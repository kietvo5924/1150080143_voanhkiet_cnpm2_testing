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Inter" charset="1" panose="020B0502030000000004"/>
      <p:regular r:id="rId16"/>
    </p:embeddedFont>
    <p:embeddedFont>
      <p:font typeface="Inter Bold" charset="1" panose="020B08020300000000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embeddings/oleObject1.bin" Type="http://schemas.openxmlformats.org/officeDocument/2006/relationships/oleObjec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89E798"/>
        </a:solidFill>
      </p:bgPr>
    </p:bg>
    <p:spTree>
      <p:nvGrpSpPr>
        <p:cNvPr id="1" name=""/>
        <p:cNvGrpSpPr/>
        <p:nvPr/>
      </p:nvGrpSpPr>
      <p:grpSpPr>
        <a:xfrm>
          <a:off x="0" y="0"/>
          <a:ext cx="0" cy="0"/>
          <a:chOff x="0" y="0"/>
          <a:chExt cx="0" cy="0"/>
        </a:xfrm>
      </p:grpSpPr>
      <p:sp>
        <p:nvSpPr>
          <p:cNvPr name="Freeform 2" id="2"/>
          <p:cNvSpPr/>
          <p:nvPr/>
        </p:nvSpPr>
        <p:spPr>
          <a:xfrm flipH="false" flipV="false" rot="0">
            <a:off x="10978187" y="5272487"/>
            <a:ext cx="5775851" cy="4358142"/>
          </a:xfrm>
          <a:custGeom>
            <a:avLst/>
            <a:gdLst/>
            <a:ahLst/>
            <a:cxnLst/>
            <a:rect r="r" b="b" t="t" l="l"/>
            <a:pathLst>
              <a:path h="4358142" w="5775851">
                <a:moveTo>
                  <a:pt x="0" y="0"/>
                </a:moveTo>
                <a:lnTo>
                  <a:pt x="5775850" y="0"/>
                </a:lnTo>
                <a:lnTo>
                  <a:pt x="5775850" y="4358142"/>
                </a:lnTo>
                <a:lnTo>
                  <a:pt x="0" y="43581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67905" y="330922"/>
            <a:ext cx="1395557" cy="1395557"/>
          </a:xfrm>
          <a:custGeom>
            <a:avLst/>
            <a:gdLst/>
            <a:ahLst/>
            <a:cxnLst/>
            <a:rect r="r" b="b" t="t" l="l"/>
            <a:pathLst>
              <a:path h="1395557" w="1395557">
                <a:moveTo>
                  <a:pt x="0" y="0"/>
                </a:moveTo>
                <a:lnTo>
                  <a:pt x="1395557" y="0"/>
                </a:lnTo>
                <a:lnTo>
                  <a:pt x="1395557" y="1395556"/>
                </a:lnTo>
                <a:lnTo>
                  <a:pt x="0" y="1395556"/>
                </a:lnTo>
                <a:lnTo>
                  <a:pt x="0" y="0"/>
                </a:lnTo>
                <a:close/>
              </a:path>
            </a:pathLst>
          </a:custGeom>
          <a:blipFill>
            <a:blip r:embed="rId4"/>
            <a:stretch>
              <a:fillRect l="0" t="0" r="0" b="0"/>
            </a:stretch>
          </a:blipFill>
        </p:spPr>
      </p:sp>
      <p:sp>
        <p:nvSpPr>
          <p:cNvPr name="TextBox 4" id="4"/>
          <p:cNvSpPr txBox="true"/>
          <p:nvPr/>
        </p:nvSpPr>
        <p:spPr>
          <a:xfrm rot="0">
            <a:off x="1267905" y="6736037"/>
            <a:ext cx="8440063" cy="2522263"/>
          </a:xfrm>
          <a:prstGeom prst="rect">
            <a:avLst/>
          </a:prstGeom>
        </p:spPr>
        <p:txBody>
          <a:bodyPr anchor="t" rtlCol="false" tIns="0" lIns="0" bIns="0" rIns="0">
            <a:spAutoFit/>
          </a:bodyPr>
          <a:lstStyle/>
          <a:p>
            <a:pPr algn="l">
              <a:lnSpc>
                <a:spcPts val="4025"/>
              </a:lnSpc>
            </a:pPr>
            <a:r>
              <a:rPr lang="en-US" sz="2875">
                <a:solidFill>
                  <a:srgbClr val="000000"/>
                </a:solidFill>
                <a:latin typeface="Inter"/>
                <a:ea typeface="Inter"/>
                <a:cs typeface="Inter"/>
                <a:sym typeface="Inter"/>
              </a:rPr>
              <a:t>Giảng viên hướng dẫn:  </a:t>
            </a:r>
            <a:r>
              <a:rPr lang="en-US" sz="2875" b="true">
                <a:solidFill>
                  <a:srgbClr val="000000"/>
                </a:solidFill>
                <a:latin typeface="Inter Bold"/>
                <a:ea typeface="Inter Bold"/>
                <a:cs typeface="Inter Bold"/>
                <a:sym typeface="Inter Bold"/>
              </a:rPr>
              <a:t>ThS. Phạm Trọng Huynh</a:t>
            </a:r>
          </a:p>
          <a:p>
            <a:pPr algn="l">
              <a:lnSpc>
                <a:spcPts val="4025"/>
              </a:lnSpc>
            </a:pPr>
            <a:r>
              <a:rPr lang="en-US" sz="2875">
                <a:solidFill>
                  <a:srgbClr val="000000"/>
                </a:solidFill>
                <a:latin typeface="Inter"/>
                <a:ea typeface="Inter"/>
                <a:cs typeface="Inter"/>
                <a:sym typeface="Inter"/>
              </a:rPr>
              <a:t>Sinh viên thực hiện:      </a:t>
            </a:r>
            <a:r>
              <a:rPr lang="en-US" sz="2875" b="true">
                <a:solidFill>
                  <a:srgbClr val="000000"/>
                </a:solidFill>
                <a:latin typeface="Inter Bold"/>
                <a:ea typeface="Inter Bold"/>
                <a:cs typeface="Inter Bold"/>
                <a:sym typeface="Inter Bold"/>
              </a:rPr>
              <a:t>Võ Anh Kiệt</a:t>
            </a:r>
          </a:p>
          <a:p>
            <a:pPr algn="l">
              <a:lnSpc>
                <a:spcPts val="4025"/>
              </a:lnSpc>
            </a:pPr>
            <a:r>
              <a:rPr lang="en-US" sz="2875">
                <a:solidFill>
                  <a:srgbClr val="000000"/>
                </a:solidFill>
                <a:latin typeface="Inter"/>
                <a:ea typeface="Inter"/>
                <a:cs typeface="Inter"/>
                <a:sym typeface="Inter"/>
              </a:rPr>
              <a:t>Mã số sinh viên:            </a:t>
            </a:r>
            <a:r>
              <a:rPr lang="en-US" sz="2875" b="true">
                <a:solidFill>
                  <a:srgbClr val="000000"/>
                </a:solidFill>
                <a:latin typeface="Inter Bold"/>
                <a:ea typeface="Inter Bold"/>
                <a:cs typeface="Inter Bold"/>
                <a:sym typeface="Inter Bold"/>
              </a:rPr>
              <a:t>1150080143</a:t>
            </a:r>
          </a:p>
          <a:p>
            <a:pPr algn="l">
              <a:lnSpc>
                <a:spcPts val="4025"/>
              </a:lnSpc>
            </a:pPr>
            <a:r>
              <a:rPr lang="en-US" sz="2875">
                <a:solidFill>
                  <a:srgbClr val="000000"/>
                </a:solidFill>
                <a:latin typeface="Inter"/>
                <a:ea typeface="Inter"/>
                <a:cs typeface="Inter"/>
                <a:sym typeface="Inter"/>
              </a:rPr>
              <a:t>Lớp:                             </a:t>
            </a:r>
            <a:r>
              <a:rPr lang="en-US" sz="2875" b="true">
                <a:solidFill>
                  <a:srgbClr val="000000"/>
                </a:solidFill>
                <a:latin typeface="Inter Bold"/>
                <a:ea typeface="Inter Bold"/>
                <a:cs typeface="Inter Bold"/>
                <a:sym typeface="Inter Bold"/>
              </a:rPr>
              <a:t>   11_ĐH_CNPM2</a:t>
            </a:r>
          </a:p>
          <a:p>
            <a:pPr algn="l">
              <a:lnSpc>
                <a:spcPts val="4025"/>
              </a:lnSpc>
            </a:pPr>
            <a:r>
              <a:rPr lang="en-US" sz="2875">
                <a:solidFill>
                  <a:srgbClr val="000000"/>
                </a:solidFill>
                <a:latin typeface="Inter"/>
                <a:ea typeface="Inter"/>
                <a:cs typeface="Inter"/>
                <a:sym typeface="Inter"/>
              </a:rPr>
              <a:t>Khoá:                              </a:t>
            </a:r>
            <a:r>
              <a:rPr lang="en-US" sz="2875" b="true">
                <a:solidFill>
                  <a:srgbClr val="000000"/>
                </a:solidFill>
                <a:latin typeface="Inter Bold"/>
                <a:ea typeface="Inter Bold"/>
                <a:cs typeface="Inter Bold"/>
                <a:sym typeface="Inter Bold"/>
              </a:rPr>
              <a:t>2022-2026</a:t>
            </a:r>
          </a:p>
        </p:txBody>
      </p:sp>
      <p:grpSp>
        <p:nvGrpSpPr>
          <p:cNvPr name="Group 5" id="5"/>
          <p:cNvGrpSpPr/>
          <p:nvPr/>
        </p:nvGrpSpPr>
        <p:grpSpPr>
          <a:xfrm rot="0">
            <a:off x="1533963" y="2592431"/>
            <a:ext cx="15220075" cy="2220150"/>
            <a:chOff x="0" y="0"/>
            <a:chExt cx="20293433" cy="2960200"/>
          </a:xfrm>
        </p:grpSpPr>
        <p:sp>
          <p:nvSpPr>
            <p:cNvPr name="TextBox 6" id="6"/>
            <p:cNvSpPr txBox="true"/>
            <p:nvPr/>
          </p:nvSpPr>
          <p:spPr>
            <a:xfrm rot="0">
              <a:off x="0" y="133350"/>
              <a:ext cx="20293433" cy="1255784"/>
            </a:xfrm>
            <a:prstGeom prst="rect">
              <a:avLst/>
            </a:prstGeom>
          </p:spPr>
          <p:txBody>
            <a:bodyPr anchor="t" rtlCol="false" tIns="0" lIns="0" bIns="0" rIns="0">
              <a:spAutoFit/>
            </a:bodyPr>
            <a:lstStyle/>
            <a:p>
              <a:pPr algn="ctr">
                <a:lnSpc>
                  <a:spcPts val="6892"/>
                </a:lnSpc>
              </a:pPr>
              <a:r>
                <a:rPr lang="en-US" sz="6892">
                  <a:solidFill>
                    <a:srgbClr val="000000"/>
                  </a:solidFill>
                  <a:latin typeface="Inter"/>
                  <a:ea typeface="Inter"/>
                  <a:cs typeface="Inter"/>
                  <a:sym typeface="Inter"/>
                </a:rPr>
                <a:t>Báo cáo giữa kỳ</a:t>
              </a:r>
            </a:p>
          </p:txBody>
        </p:sp>
        <p:sp>
          <p:nvSpPr>
            <p:cNvPr name="TextBox 7" id="7"/>
            <p:cNvSpPr txBox="true"/>
            <p:nvPr/>
          </p:nvSpPr>
          <p:spPr>
            <a:xfrm rot="0">
              <a:off x="0" y="2198177"/>
              <a:ext cx="20142751" cy="762022"/>
            </a:xfrm>
            <a:prstGeom prst="rect">
              <a:avLst/>
            </a:prstGeom>
          </p:spPr>
          <p:txBody>
            <a:bodyPr anchor="t" rtlCol="false" tIns="0" lIns="0" bIns="0" rIns="0">
              <a:spAutoFit/>
            </a:bodyPr>
            <a:lstStyle/>
            <a:p>
              <a:pPr algn="ctr">
                <a:lnSpc>
                  <a:spcPts val="4725"/>
                </a:lnSpc>
              </a:pPr>
              <a:r>
                <a:rPr lang="en-US" sz="3375">
                  <a:solidFill>
                    <a:srgbClr val="000000"/>
                  </a:solidFill>
                  <a:latin typeface="Inter"/>
                  <a:ea typeface="Inter"/>
                  <a:cs typeface="Inter"/>
                  <a:sym typeface="Inter"/>
                </a:rPr>
                <a:t>So sánh Testing vs Verification trên cùng 1 module: bug tìm được &amp; chi phí</a:t>
              </a:r>
            </a:p>
          </p:txBody>
        </p:sp>
      </p:grpSp>
      <p:sp>
        <p:nvSpPr>
          <p:cNvPr name="TextBox 8" id="8"/>
          <p:cNvSpPr txBox="true"/>
          <p:nvPr/>
        </p:nvSpPr>
        <p:spPr>
          <a:xfrm rot="0">
            <a:off x="2773094" y="667589"/>
            <a:ext cx="12741813" cy="1464934"/>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Inter"/>
                <a:ea typeface="Inter"/>
                <a:cs typeface="Inter"/>
                <a:sym typeface="Inter"/>
              </a:rPr>
              <a:t>TRƯỜNG ĐẠI HỌC TÀI NGUYÊN VÀ MÔI TRƯỜNG </a:t>
            </a:r>
          </a:p>
          <a:p>
            <a:pPr algn="ctr">
              <a:lnSpc>
                <a:spcPts val="5880"/>
              </a:lnSpc>
              <a:spcBef>
                <a:spcPct val="0"/>
              </a:spcBef>
            </a:pPr>
            <a:r>
              <a:rPr lang="en-US" sz="4200">
                <a:solidFill>
                  <a:srgbClr val="000000"/>
                </a:solidFill>
                <a:latin typeface="Inter"/>
                <a:ea typeface="Inter"/>
                <a:cs typeface="Inter"/>
                <a:sym typeface="Inter"/>
              </a:rPr>
              <a:t>THÀNH PHỐ HỒ CHÍ MINH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rot="0">
            <a:off x="0" y="0"/>
            <a:ext cx="8670154" cy="10287000"/>
          </a:xfrm>
          <a:prstGeom prst="rect">
            <a:avLst/>
          </a:prstGeom>
          <a:solidFill>
            <a:srgbClr val="89E798"/>
          </a:solidFill>
        </p:spPr>
      </p:sp>
      <p:sp>
        <p:nvSpPr>
          <p:cNvPr name="Freeform 3" id="3"/>
          <p:cNvSpPr/>
          <p:nvPr/>
        </p:nvSpPr>
        <p:spPr>
          <a:xfrm flipH="false" flipV="false" rot="0">
            <a:off x="438089" y="3298333"/>
            <a:ext cx="7793977" cy="5959967"/>
          </a:xfrm>
          <a:custGeom>
            <a:avLst/>
            <a:gdLst/>
            <a:ahLst/>
            <a:cxnLst/>
            <a:rect r="r" b="b" t="t" l="l"/>
            <a:pathLst>
              <a:path h="5959967" w="7793977">
                <a:moveTo>
                  <a:pt x="0" y="0"/>
                </a:moveTo>
                <a:lnTo>
                  <a:pt x="7793977" y="0"/>
                </a:lnTo>
                <a:lnTo>
                  <a:pt x="7793977" y="5959967"/>
                </a:lnTo>
                <a:lnTo>
                  <a:pt x="0" y="5959967"/>
                </a:lnTo>
                <a:lnTo>
                  <a:pt x="0" y="0"/>
                </a:lnTo>
                <a:close/>
              </a:path>
            </a:pathLst>
          </a:custGeom>
          <a:blipFill>
            <a:blip r:embed="rId2"/>
            <a:stretch>
              <a:fillRect l="0" t="0" r="-22841" b="0"/>
            </a:stretch>
          </a:blipFill>
        </p:spPr>
      </p:sp>
      <p:sp>
        <p:nvSpPr>
          <p:cNvPr name="TextBox 4" id="4"/>
          <p:cNvSpPr txBox="true"/>
          <p:nvPr/>
        </p:nvSpPr>
        <p:spPr>
          <a:xfrm rot="0">
            <a:off x="349333" y="1322124"/>
            <a:ext cx="7971487" cy="1456616"/>
          </a:xfrm>
          <a:prstGeom prst="rect">
            <a:avLst/>
          </a:prstGeom>
        </p:spPr>
        <p:txBody>
          <a:bodyPr anchor="t" rtlCol="false" tIns="0" lIns="0" bIns="0" rIns="0">
            <a:spAutoFit/>
          </a:bodyPr>
          <a:lstStyle/>
          <a:p>
            <a:pPr algn="ctr">
              <a:lnSpc>
                <a:spcPts val="5600"/>
              </a:lnSpc>
            </a:pPr>
            <a:r>
              <a:rPr lang="en-US" sz="5600">
                <a:solidFill>
                  <a:srgbClr val="000000"/>
                </a:solidFill>
                <a:latin typeface="Inter"/>
                <a:ea typeface="Inter"/>
                <a:cs typeface="Inter"/>
                <a:sym typeface="Inter"/>
              </a:rPr>
              <a:t>TỔNG QUAN VÀ CHIẾN LƯỢC KIỂM THỬ</a:t>
            </a:r>
          </a:p>
        </p:txBody>
      </p:sp>
      <p:sp>
        <p:nvSpPr>
          <p:cNvPr name="TextBox 5" id="5"/>
          <p:cNvSpPr txBox="true"/>
          <p:nvPr/>
        </p:nvSpPr>
        <p:spPr>
          <a:xfrm rot="0">
            <a:off x="9471594" y="1398562"/>
            <a:ext cx="7787706" cy="7451776"/>
          </a:xfrm>
          <a:prstGeom prst="rect">
            <a:avLst/>
          </a:prstGeom>
        </p:spPr>
        <p:txBody>
          <a:bodyPr anchor="t" rtlCol="false" tIns="0" lIns="0" bIns="0" rIns="0">
            <a:spAutoFit/>
          </a:bodyPr>
          <a:lstStyle/>
          <a:p>
            <a:pPr algn="just">
              <a:lnSpc>
                <a:spcPts val="3505"/>
              </a:lnSpc>
            </a:pPr>
            <a:r>
              <a:rPr lang="en-US" sz="2696">
                <a:solidFill>
                  <a:srgbClr val="000000"/>
                </a:solidFill>
                <a:latin typeface="Inter"/>
                <a:ea typeface="Inter"/>
                <a:cs typeface="Inter"/>
                <a:sym typeface="Inter"/>
              </a:rPr>
              <a:t>1. Đối tượng và Phạm vi</a:t>
            </a:r>
          </a:p>
          <a:p>
            <a:pPr algn="just" marL="582101" indent="-291050" lvl="1">
              <a:lnSpc>
                <a:spcPts val="3505"/>
              </a:lnSpc>
              <a:buFont typeface="Arial"/>
              <a:buChar char="•"/>
            </a:pPr>
            <a:r>
              <a:rPr lang="en-US" sz="2696">
                <a:solidFill>
                  <a:srgbClr val="000000"/>
                </a:solidFill>
                <a:latin typeface="Inter"/>
                <a:ea typeface="Inter"/>
                <a:cs typeface="Inter"/>
                <a:sym typeface="Inter"/>
              </a:rPr>
              <a:t>Đối tượng kiểm t</a:t>
            </a:r>
            <a:r>
              <a:rPr lang="en-US" sz="2696">
                <a:solidFill>
                  <a:srgbClr val="000000"/>
                </a:solidFill>
                <a:latin typeface="Inter"/>
                <a:ea typeface="Inter"/>
                <a:cs typeface="Inter"/>
                <a:sym typeface="Inter"/>
              </a:rPr>
              <a:t>hử: Module OrderService tại tầng Backend.</a:t>
            </a:r>
          </a:p>
          <a:p>
            <a:pPr algn="just" marL="582101" indent="-291050" lvl="1">
              <a:lnSpc>
                <a:spcPts val="3505"/>
              </a:lnSpc>
              <a:buFont typeface="Arial"/>
              <a:buChar char="•"/>
            </a:pPr>
            <a:r>
              <a:rPr lang="en-US" sz="2696">
                <a:solidFill>
                  <a:srgbClr val="000000"/>
                </a:solidFill>
                <a:latin typeface="Inter"/>
                <a:ea typeface="Inter"/>
                <a:cs typeface="Inter"/>
                <a:sym typeface="Inter"/>
              </a:rPr>
              <a:t>Chức năng cốt lõi: Tính Giảm giá và Tính Phí Vận chuyển.</a:t>
            </a:r>
          </a:p>
          <a:p>
            <a:pPr algn="just">
              <a:lnSpc>
                <a:spcPts val="3505"/>
              </a:lnSpc>
            </a:pPr>
            <a:r>
              <a:rPr lang="en-US" sz="2696">
                <a:solidFill>
                  <a:srgbClr val="000000"/>
                </a:solidFill>
                <a:latin typeface="Inter"/>
                <a:ea typeface="Inter"/>
                <a:cs typeface="Inter"/>
                <a:sym typeface="Inter"/>
              </a:rPr>
              <a:t>2. Phương pháp và Công nghệ</a:t>
            </a:r>
          </a:p>
          <a:p>
            <a:pPr algn="just" marL="582101" indent="-291050" lvl="1">
              <a:lnSpc>
                <a:spcPts val="3505"/>
              </a:lnSpc>
              <a:buFont typeface="Arial"/>
              <a:buChar char="•"/>
            </a:pPr>
            <a:r>
              <a:rPr lang="en-US" sz="2696">
                <a:solidFill>
                  <a:srgbClr val="000000"/>
                </a:solidFill>
                <a:latin typeface="Inter"/>
                <a:ea typeface="Inter"/>
                <a:cs typeface="Inter"/>
                <a:sym typeface="Inter"/>
              </a:rPr>
              <a:t>Ch</a:t>
            </a:r>
            <a:r>
              <a:rPr lang="en-US" sz="2696">
                <a:solidFill>
                  <a:srgbClr val="000000"/>
                </a:solidFill>
                <a:latin typeface="Inter"/>
                <a:ea typeface="Inter"/>
                <a:cs typeface="Inter"/>
                <a:sym typeface="Inter"/>
              </a:rPr>
              <a:t>iến lược tiếp cận: Kết hợp Kiểm thử hộp trắng và Kiểm thử hộp đen.</a:t>
            </a:r>
          </a:p>
          <a:p>
            <a:pPr algn="just" marL="582101" indent="-291050" lvl="1">
              <a:lnSpc>
                <a:spcPts val="3505"/>
              </a:lnSpc>
              <a:buFont typeface="Arial"/>
              <a:buChar char="•"/>
            </a:pPr>
            <a:r>
              <a:rPr lang="en-US" sz="2696">
                <a:solidFill>
                  <a:srgbClr val="000000"/>
                </a:solidFill>
                <a:latin typeface="Inter"/>
                <a:ea typeface="Inter"/>
                <a:cs typeface="Inter"/>
                <a:sym typeface="Inter"/>
              </a:rPr>
              <a:t>Cô</a:t>
            </a:r>
            <a:r>
              <a:rPr lang="en-US" sz="2696">
                <a:solidFill>
                  <a:srgbClr val="000000"/>
                </a:solidFill>
                <a:latin typeface="Inter"/>
                <a:ea typeface="Inter"/>
                <a:cs typeface="Inter"/>
                <a:sym typeface="Inter"/>
              </a:rPr>
              <a:t>ng nghệ triển khai: Java 17, JUnit 5, Maven và JaCoCo Plugin.</a:t>
            </a:r>
          </a:p>
          <a:p>
            <a:pPr algn="just">
              <a:lnSpc>
                <a:spcPts val="3505"/>
              </a:lnSpc>
            </a:pPr>
            <a:r>
              <a:rPr lang="en-US" sz="2696">
                <a:solidFill>
                  <a:srgbClr val="000000"/>
                </a:solidFill>
                <a:latin typeface="Inter"/>
                <a:ea typeface="Inter"/>
                <a:cs typeface="Inter"/>
                <a:sym typeface="Inter"/>
              </a:rPr>
              <a:t>3</a:t>
            </a:r>
            <a:r>
              <a:rPr lang="en-US" sz="2696">
                <a:solidFill>
                  <a:srgbClr val="000000"/>
                </a:solidFill>
                <a:latin typeface="Inter"/>
                <a:ea typeface="Inter"/>
                <a:cs typeface="Inter"/>
                <a:sym typeface="Inter"/>
              </a:rPr>
              <a:t>. Mục tiêu và Ngân sách</a:t>
            </a:r>
          </a:p>
          <a:p>
            <a:pPr algn="just" marL="582101" indent="-291050" lvl="1">
              <a:lnSpc>
                <a:spcPts val="3505"/>
              </a:lnSpc>
              <a:buFont typeface="Arial"/>
              <a:buChar char="•"/>
            </a:pPr>
            <a:r>
              <a:rPr lang="en-US" sz="2696">
                <a:solidFill>
                  <a:srgbClr val="000000"/>
                </a:solidFill>
                <a:latin typeface="Inter"/>
                <a:ea typeface="Inter"/>
                <a:cs typeface="Inter"/>
                <a:sym typeface="Inter"/>
              </a:rPr>
              <a:t>Tiêu chí chất lượng: Đạt 100% Bao phủ nhánh với 17 kịch bản kiểm thử.</a:t>
            </a:r>
          </a:p>
          <a:p>
            <a:pPr algn="just" marL="582101" indent="-291050" lvl="1">
              <a:lnSpc>
                <a:spcPts val="3505"/>
              </a:lnSpc>
              <a:buFont typeface="Arial"/>
              <a:buChar char="•"/>
            </a:pPr>
            <a:r>
              <a:rPr lang="en-US" sz="2696">
                <a:solidFill>
                  <a:srgbClr val="000000"/>
                </a:solidFill>
                <a:latin typeface="Inter"/>
                <a:ea typeface="Inter"/>
                <a:cs typeface="Inter"/>
                <a:sym typeface="Inter"/>
              </a:rPr>
              <a:t>Ngân</a:t>
            </a:r>
            <a:r>
              <a:rPr lang="en-US" sz="2696">
                <a:solidFill>
                  <a:srgbClr val="000000"/>
                </a:solidFill>
                <a:latin typeface="Inter"/>
                <a:ea typeface="Inter"/>
                <a:cs typeface="Inter"/>
                <a:sym typeface="Inter"/>
              </a:rPr>
              <a:t> sách thời gian: Hoàn thành trong 7 giờ làm việc.</a:t>
            </a:r>
          </a:p>
          <a:p>
            <a:pPr algn="just" marL="582101" indent="-291050" lvl="1">
              <a:lnSpc>
                <a:spcPts val="3505"/>
              </a:lnSpc>
              <a:buFont typeface="Arial"/>
              <a:buChar char="•"/>
            </a:pPr>
            <a:r>
              <a:rPr lang="en-US" sz="2696">
                <a:solidFill>
                  <a:srgbClr val="000000"/>
                </a:solidFill>
                <a:latin typeface="Inter"/>
                <a:ea typeface="Inter"/>
                <a:cs typeface="Inter"/>
                <a:sym typeface="Inter"/>
              </a:rPr>
              <a:t>Mục đích đối chiếu: So sánh hiệu quả chi phí giữa Kiểm thử tĩnh và Kiểm thử động.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89E798"/>
        </a:solidFill>
      </p:bgPr>
    </p:bg>
    <p:spTree>
      <p:nvGrpSpPr>
        <p:cNvPr id="1" name=""/>
        <p:cNvGrpSpPr/>
        <p:nvPr/>
      </p:nvGrpSpPr>
      <p:grpSpPr>
        <a:xfrm>
          <a:off x="0" y="0"/>
          <a:ext cx="0" cy="0"/>
          <a:chOff x="0" y="0"/>
          <a:chExt cx="0" cy="0"/>
        </a:xfrm>
      </p:grpSpPr>
      <p:sp>
        <p:nvSpPr>
          <p:cNvPr name="Freeform 2" id="2"/>
          <p:cNvSpPr/>
          <p:nvPr/>
        </p:nvSpPr>
        <p:spPr>
          <a:xfrm flipH="false" flipV="false" rot="0">
            <a:off x="10199000" y="163066"/>
            <a:ext cx="6921631" cy="6392107"/>
          </a:xfrm>
          <a:custGeom>
            <a:avLst/>
            <a:gdLst/>
            <a:ahLst/>
            <a:cxnLst/>
            <a:rect r="r" b="b" t="t" l="l"/>
            <a:pathLst>
              <a:path h="6392107" w="6921631">
                <a:moveTo>
                  <a:pt x="0" y="0"/>
                </a:moveTo>
                <a:lnTo>
                  <a:pt x="6921631" y="0"/>
                </a:lnTo>
                <a:lnTo>
                  <a:pt x="6921631" y="6392108"/>
                </a:lnTo>
                <a:lnTo>
                  <a:pt x="0" y="6392108"/>
                </a:lnTo>
                <a:lnTo>
                  <a:pt x="0" y="0"/>
                </a:lnTo>
                <a:close/>
              </a:path>
            </a:pathLst>
          </a:custGeom>
          <a:blipFill>
            <a:blip r:embed="rId2"/>
            <a:stretch>
              <a:fillRect l="0" t="0" r="0" b="0"/>
            </a:stretch>
          </a:blipFill>
        </p:spPr>
      </p:sp>
      <p:sp>
        <p:nvSpPr>
          <p:cNvPr name="Freeform 3" id="3"/>
          <p:cNvSpPr/>
          <p:nvPr/>
        </p:nvSpPr>
        <p:spPr>
          <a:xfrm flipH="false" flipV="false" rot="0">
            <a:off x="8920159" y="6707684"/>
            <a:ext cx="9367841" cy="3009419"/>
          </a:xfrm>
          <a:custGeom>
            <a:avLst/>
            <a:gdLst/>
            <a:ahLst/>
            <a:cxnLst/>
            <a:rect r="r" b="b" t="t" l="l"/>
            <a:pathLst>
              <a:path h="3009419" w="9367841">
                <a:moveTo>
                  <a:pt x="0" y="0"/>
                </a:moveTo>
                <a:lnTo>
                  <a:pt x="9367841" y="0"/>
                </a:lnTo>
                <a:lnTo>
                  <a:pt x="9367841" y="3009419"/>
                </a:lnTo>
                <a:lnTo>
                  <a:pt x="0" y="3009419"/>
                </a:lnTo>
                <a:lnTo>
                  <a:pt x="0" y="0"/>
                </a:lnTo>
                <a:close/>
              </a:path>
            </a:pathLst>
          </a:custGeom>
          <a:blipFill>
            <a:blip r:embed="rId3"/>
            <a:stretch>
              <a:fillRect l="0" t="0" r="0" b="0"/>
            </a:stretch>
          </a:blipFill>
        </p:spPr>
      </p:sp>
      <p:sp>
        <p:nvSpPr>
          <p:cNvPr name="TextBox 4" id="4"/>
          <p:cNvSpPr txBox="true"/>
          <p:nvPr/>
        </p:nvSpPr>
        <p:spPr>
          <a:xfrm rot="0">
            <a:off x="303308" y="411968"/>
            <a:ext cx="8997767" cy="833797"/>
          </a:xfrm>
          <a:prstGeom prst="rect">
            <a:avLst/>
          </a:prstGeom>
        </p:spPr>
        <p:txBody>
          <a:bodyPr anchor="t" rtlCol="false" tIns="0" lIns="0" bIns="0" rIns="0">
            <a:spAutoFit/>
          </a:bodyPr>
          <a:lstStyle/>
          <a:p>
            <a:pPr algn="l">
              <a:lnSpc>
                <a:spcPts val="6200"/>
              </a:lnSpc>
            </a:pPr>
            <a:r>
              <a:rPr lang="en-US" sz="6200">
                <a:solidFill>
                  <a:srgbClr val="094850"/>
                </a:solidFill>
                <a:latin typeface="Inter"/>
                <a:ea typeface="Inter"/>
                <a:cs typeface="Inter"/>
                <a:sym typeface="Inter"/>
              </a:rPr>
              <a:t>THIẾT KẾ CA KIỂM THỬ</a:t>
            </a:r>
          </a:p>
        </p:txBody>
      </p:sp>
      <p:sp>
        <p:nvSpPr>
          <p:cNvPr name="TextBox 5" id="5"/>
          <p:cNvSpPr txBox="true"/>
          <p:nvPr/>
        </p:nvSpPr>
        <p:spPr>
          <a:xfrm rot="0">
            <a:off x="179782" y="1366512"/>
            <a:ext cx="8740377" cy="8001638"/>
          </a:xfrm>
          <a:prstGeom prst="rect">
            <a:avLst/>
          </a:prstGeom>
        </p:spPr>
        <p:txBody>
          <a:bodyPr anchor="t" rtlCol="false" tIns="0" lIns="0" bIns="0" rIns="0">
            <a:spAutoFit/>
          </a:bodyPr>
          <a:lstStyle/>
          <a:p>
            <a:pPr algn="l">
              <a:lnSpc>
                <a:spcPts val="2654"/>
              </a:lnSpc>
            </a:pPr>
            <a:r>
              <a:rPr lang="en-US" sz="2212">
                <a:solidFill>
                  <a:srgbClr val="094850"/>
                </a:solidFill>
                <a:latin typeface="Inter"/>
                <a:ea typeface="Inter"/>
                <a:cs typeface="Inter"/>
                <a:sym typeface="Inter"/>
              </a:rPr>
              <a:t>1. Tối ưu hóa kịch bản bằng bảng quyết định</a:t>
            </a:r>
          </a:p>
          <a:p>
            <a:pPr algn="l" marL="477629" indent="-238814" lvl="1">
              <a:lnSpc>
                <a:spcPts val="2654"/>
              </a:lnSpc>
              <a:buFont typeface="Arial"/>
              <a:buChar char="•"/>
            </a:pPr>
            <a:r>
              <a:rPr lang="en-US" sz="2212">
                <a:solidFill>
                  <a:srgbClr val="094850"/>
                </a:solidFill>
                <a:latin typeface="Inter"/>
                <a:ea typeface="Inter"/>
                <a:cs typeface="Inter"/>
                <a:sym typeface="Inter"/>
              </a:rPr>
              <a:t>Cơ chế phân tích: Cả hai hàm Giảm giá và Vận chuyển đều phụ thuộc vào 4 điều kiện đầu vào độc lập. Theo tổ hợp toán học, mỗi hàm sẽ sinh ra 2^4 = 16 quy tắc kiểm thử.</a:t>
            </a:r>
          </a:p>
          <a:p>
            <a:pPr algn="l" marL="477629" indent="-238814" lvl="1">
              <a:lnSpc>
                <a:spcPts val="2654"/>
              </a:lnSpc>
              <a:buFont typeface="Arial"/>
              <a:buChar char="•"/>
            </a:pPr>
            <a:r>
              <a:rPr lang="en-US" sz="2212">
                <a:solidFill>
                  <a:srgbClr val="094850"/>
                </a:solidFill>
                <a:latin typeface="Inter"/>
                <a:ea typeface="Inter"/>
                <a:cs typeface="Inter"/>
                <a:sym typeface="Inter"/>
              </a:rPr>
              <a:t>Bước rút gọn logic: Tiến hành gộp toàn bộ các quy tắc báo lỗi ngoại lệ (tiền âm, khoảng các</a:t>
            </a:r>
            <a:r>
              <a:rPr lang="en-US" sz="2212">
                <a:solidFill>
                  <a:srgbClr val="094850"/>
                </a:solidFill>
                <a:latin typeface="Inter"/>
                <a:ea typeface="Inter"/>
                <a:cs typeface="Inter"/>
                <a:sym typeface="Inter"/>
              </a:rPr>
              <a:t>h âm, cân nặng âm) thành các kịch bản duy nhất. Đồng thời, loại bỏ các tổ hợp điều kiện vô lý về mặt thực tế.</a:t>
            </a:r>
          </a:p>
          <a:p>
            <a:pPr algn="l" marL="477629" indent="-238814" lvl="1">
              <a:lnSpc>
                <a:spcPts val="2654"/>
              </a:lnSpc>
              <a:buFont typeface="Arial"/>
              <a:buChar char="•"/>
            </a:pPr>
            <a:r>
              <a:rPr lang="en-US" sz="2212">
                <a:solidFill>
                  <a:srgbClr val="094850"/>
                </a:solidFill>
                <a:latin typeface="Inter"/>
                <a:ea typeface="Inter"/>
                <a:cs typeface="Inter"/>
                <a:sym typeface="Inter"/>
              </a:rPr>
              <a:t>Kết luận: Từ 16 cột ban đầu, Bảng quyết định của hàm Giảm giá được </a:t>
            </a:r>
            <a:r>
              <a:rPr lang="en-US" sz="2212">
                <a:solidFill>
                  <a:srgbClr val="094850"/>
                </a:solidFill>
                <a:latin typeface="Inter"/>
                <a:ea typeface="Inter"/>
                <a:cs typeface="Inter"/>
                <a:sym typeface="Inter"/>
              </a:rPr>
              <a:t>tinh chỉnh xuống còn 8 kị</a:t>
            </a:r>
            <a:r>
              <a:rPr lang="en-US" sz="2212">
                <a:solidFill>
                  <a:srgbClr val="094850"/>
                </a:solidFill>
                <a:latin typeface="Inter"/>
                <a:ea typeface="Inter"/>
                <a:cs typeface="Inter"/>
                <a:sym typeface="Inter"/>
              </a:rPr>
              <a:t>ch bản, và hàm Vận chuyển còn 9 kịch bản. Việc này đảm bảo bao phủ mọi luồng xử lý cốt lõi mà không gây dư thừa mã kiểm thử.</a:t>
            </a:r>
          </a:p>
          <a:p>
            <a:pPr algn="l">
              <a:lnSpc>
                <a:spcPts val="2654"/>
              </a:lnSpc>
            </a:pPr>
            <a:r>
              <a:rPr lang="en-US" sz="2212" b="true">
                <a:solidFill>
                  <a:srgbClr val="094850"/>
                </a:solidFill>
                <a:latin typeface="Inter Bold"/>
                <a:ea typeface="Inter Bold"/>
                <a:cs typeface="Inter Bold"/>
                <a:sym typeface="Inter Bold"/>
              </a:rPr>
              <a:t>2. Bẫy lỗi bằng p</a:t>
            </a:r>
            <a:r>
              <a:rPr lang="en-US" sz="2212" b="true">
                <a:solidFill>
                  <a:srgbClr val="094850"/>
                </a:solidFill>
                <a:latin typeface="Inter Bold"/>
                <a:ea typeface="Inter Bold"/>
                <a:cs typeface="Inter Bold"/>
                <a:sym typeface="Inter Bold"/>
              </a:rPr>
              <a:t>hân</a:t>
            </a:r>
            <a:r>
              <a:rPr lang="en-US" b="true" sz="2212">
                <a:solidFill>
                  <a:srgbClr val="094850"/>
                </a:solidFill>
                <a:latin typeface="Inter Bold"/>
                <a:ea typeface="Inter Bold"/>
                <a:cs typeface="Inter Bold"/>
                <a:sym typeface="Inter Bold"/>
              </a:rPr>
              <a:t> tích giá trị biên</a:t>
            </a:r>
          </a:p>
          <a:p>
            <a:pPr algn="l">
              <a:lnSpc>
                <a:spcPts val="2654"/>
              </a:lnSpc>
            </a:pPr>
            <a:r>
              <a:rPr lang="en-US" sz="2212">
                <a:solidFill>
                  <a:srgbClr val="094850"/>
                </a:solidFill>
                <a:latin typeface="Inter"/>
                <a:ea typeface="Inter"/>
                <a:cs typeface="Inter"/>
                <a:sym typeface="Inter"/>
              </a:rPr>
              <a:t>Thay vì chọn số ngẫu nhiên, kỹ thuật Giá trị biên chủ động đẩy hệ thống vào các ranh giới dễ phát sinh sai số nhất:</a:t>
            </a:r>
          </a:p>
          <a:p>
            <a:pPr algn="l" marL="477629" indent="-238814" lvl="1">
              <a:lnSpc>
                <a:spcPts val="2654"/>
              </a:lnSpc>
              <a:buFont typeface="Arial"/>
              <a:buChar char="•"/>
            </a:pPr>
            <a:r>
              <a:rPr lang="en-US" sz="2212">
                <a:solidFill>
                  <a:srgbClr val="094850"/>
                </a:solidFill>
                <a:latin typeface="Inter"/>
                <a:ea typeface="Inter"/>
                <a:cs typeface="Inter"/>
                <a:sym typeface="Inter"/>
              </a:rPr>
              <a:t>Hàm Giảm giá (Bẫy Lỗi 1 &amp; 2): Truyền số tiền là 300 (lọt vùng biên giảm cố định) và 6000 (vượt trần tối đa). Kết quả lôi ra ánh sáng lỗi Dev gõ nhầm mức giảm thành 100 và gán nhầm mức trần thành 10000.</a:t>
            </a:r>
          </a:p>
          <a:p>
            <a:pPr algn="l" marL="477629" indent="-238814" lvl="1">
              <a:lnSpc>
                <a:spcPts val="2654"/>
              </a:lnSpc>
              <a:buFont typeface="Arial"/>
              <a:buChar char="•"/>
            </a:pPr>
            <a:r>
              <a:rPr lang="en-US" sz="2212">
                <a:solidFill>
                  <a:srgbClr val="094850"/>
                </a:solidFill>
                <a:latin typeface="Inter"/>
                <a:ea typeface="Inter"/>
                <a:cs typeface="Inter"/>
                <a:sym typeface="Inter"/>
              </a:rPr>
              <a:t>Hàm Vận chuyển (Bẫy Lỗi 3 &amp; 4): Truyền cân nặng là 8 (chạm mốc phụ thu hàng nặng &gt; 5kg) và khoảng cách 100 (ép tổng phí vượt ngưỡng 500.000). Kết quả bắt tại trận lỗi tính sai phí cồng kềnh (thu 215.000 thay vì 35.000) và lỗi không kích hoạt Freeship.</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89E798"/>
        </a:solidFill>
      </p:bgPr>
    </p:bg>
    <p:spTree>
      <p:nvGrpSpPr>
        <p:cNvPr id="1" name=""/>
        <p:cNvGrpSpPr/>
        <p:nvPr/>
      </p:nvGrpSpPr>
      <p:grpSpPr>
        <a:xfrm>
          <a:off x="0" y="0"/>
          <a:ext cx="0" cy="0"/>
          <a:chOff x="0" y="0"/>
          <a:chExt cx="0" cy="0"/>
        </a:xfrm>
      </p:grpSpPr>
      <p:sp>
        <p:nvSpPr>
          <p:cNvPr name="Freeform 2" id="2"/>
          <p:cNvSpPr/>
          <p:nvPr/>
        </p:nvSpPr>
        <p:spPr>
          <a:xfrm flipH="false" flipV="false" rot="0">
            <a:off x="11923374" y="777059"/>
            <a:ext cx="6020526" cy="8759516"/>
          </a:xfrm>
          <a:custGeom>
            <a:avLst/>
            <a:gdLst/>
            <a:ahLst/>
            <a:cxnLst/>
            <a:rect r="r" b="b" t="t" l="l"/>
            <a:pathLst>
              <a:path h="8759516" w="6020526">
                <a:moveTo>
                  <a:pt x="0" y="0"/>
                </a:moveTo>
                <a:lnTo>
                  <a:pt x="6020526" y="0"/>
                </a:lnTo>
                <a:lnTo>
                  <a:pt x="6020526" y="8759515"/>
                </a:lnTo>
                <a:lnTo>
                  <a:pt x="0" y="8759515"/>
                </a:lnTo>
                <a:lnTo>
                  <a:pt x="0" y="0"/>
                </a:lnTo>
                <a:close/>
              </a:path>
            </a:pathLst>
          </a:custGeom>
          <a:blipFill>
            <a:blip r:embed="rId2"/>
            <a:stretch>
              <a:fillRect l="0" t="0" r="0" b="0"/>
            </a:stretch>
          </a:blipFill>
        </p:spPr>
      </p:sp>
      <p:sp>
        <p:nvSpPr>
          <p:cNvPr name="TextBox 3" id="3"/>
          <p:cNvSpPr txBox="true"/>
          <p:nvPr/>
        </p:nvSpPr>
        <p:spPr>
          <a:xfrm rot="0">
            <a:off x="372532" y="339131"/>
            <a:ext cx="11550843" cy="4723523"/>
          </a:xfrm>
          <a:prstGeom prst="rect">
            <a:avLst/>
          </a:prstGeom>
        </p:spPr>
        <p:txBody>
          <a:bodyPr anchor="t" rtlCol="false" tIns="0" lIns="0" bIns="0" rIns="0">
            <a:spAutoFit/>
          </a:bodyPr>
          <a:lstStyle/>
          <a:p>
            <a:pPr algn="l">
              <a:lnSpc>
                <a:spcPts val="2534"/>
              </a:lnSpc>
            </a:pPr>
            <a:r>
              <a:rPr lang="en-US" sz="2112" b="true">
                <a:solidFill>
                  <a:srgbClr val="094850"/>
                </a:solidFill>
                <a:latin typeface="Inter Bold"/>
                <a:ea typeface="Inter Bold"/>
                <a:cs typeface="Inter Bold"/>
                <a:sym typeface="Inter Bold"/>
              </a:rPr>
              <a:t>1. Minh chứng toán học tính độ phức tạp thuật toá</a:t>
            </a:r>
            <a:r>
              <a:rPr lang="en-US" sz="2112" b="true">
                <a:solidFill>
                  <a:srgbClr val="094850"/>
                </a:solidFill>
                <a:latin typeface="Inter Bold"/>
                <a:ea typeface="Inter Bold"/>
                <a:cs typeface="Inter Bold"/>
                <a:sym typeface="Inter Bold"/>
              </a:rPr>
              <a:t>n (CC)</a:t>
            </a:r>
          </a:p>
          <a:p>
            <a:pPr algn="l" marL="456039" indent="-228020" lvl="1">
              <a:lnSpc>
                <a:spcPts val="2534"/>
              </a:lnSpc>
              <a:buFont typeface="Arial"/>
              <a:buChar char="•"/>
            </a:pPr>
            <a:r>
              <a:rPr lang="en-US" sz="2112">
                <a:solidFill>
                  <a:srgbClr val="094850"/>
                </a:solidFill>
                <a:latin typeface="Inter"/>
                <a:ea typeface="Inter"/>
                <a:cs typeface="Inter"/>
                <a:sym typeface="Inter"/>
              </a:rPr>
              <a:t>Phươ</a:t>
            </a:r>
            <a:r>
              <a:rPr lang="en-US" sz="2112">
                <a:solidFill>
                  <a:srgbClr val="094850"/>
                </a:solidFill>
                <a:latin typeface="Inter"/>
                <a:ea typeface="Inter"/>
                <a:cs typeface="Inter"/>
                <a:sym typeface="Inter"/>
              </a:rPr>
              <a:t>ng pháp đếm n</a:t>
            </a:r>
            <a:r>
              <a:rPr lang="en-US" sz="2112">
                <a:solidFill>
                  <a:srgbClr val="094850"/>
                </a:solidFill>
                <a:latin typeface="Inter"/>
                <a:ea typeface="Inter"/>
                <a:cs typeface="Inter"/>
                <a:sym typeface="Inter"/>
              </a:rPr>
              <a:t>út</a:t>
            </a:r>
            <a:r>
              <a:rPr lang="en-US" sz="2112">
                <a:solidFill>
                  <a:srgbClr val="094850"/>
                </a:solidFill>
                <a:latin typeface="Inter"/>
                <a:ea typeface="Inter"/>
                <a:cs typeface="Inter"/>
                <a:sym typeface="Inter"/>
              </a:rPr>
              <a:t> rẽ nhánh:</a:t>
            </a:r>
          </a:p>
          <a:p>
            <a:pPr algn="l" marL="912078" indent="-304026" lvl="2">
              <a:lnSpc>
                <a:spcPts val="2534"/>
              </a:lnSpc>
              <a:buFont typeface="Arial"/>
              <a:buChar char="⚬"/>
            </a:pPr>
            <a:r>
              <a:rPr lang="en-US" sz="2112">
                <a:solidFill>
                  <a:srgbClr val="094850"/>
                </a:solidFill>
                <a:latin typeface="Inter"/>
                <a:ea typeface="Inter"/>
                <a:cs typeface="Inter"/>
                <a:sym typeface="Inter"/>
              </a:rPr>
              <a:t>Công thức: CC = P + 1 (P là số lượng hình thoi rẽ nhánh).</a:t>
            </a:r>
          </a:p>
          <a:p>
            <a:pPr algn="l" marL="912078" indent="-304026" lvl="2">
              <a:lnSpc>
                <a:spcPts val="2534"/>
              </a:lnSpc>
              <a:buFont typeface="Arial"/>
              <a:buChar char="⚬"/>
            </a:pPr>
            <a:r>
              <a:rPr lang="en-US" sz="2112">
                <a:solidFill>
                  <a:srgbClr val="094850"/>
                </a:solidFill>
                <a:latin typeface="Inter"/>
                <a:ea typeface="Inter"/>
                <a:cs typeface="Inter"/>
                <a:sym typeface="Inter"/>
              </a:rPr>
              <a:t>Áp dụng: CC =</a:t>
            </a:r>
            <a:r>
              <a:rPr lang="en-US" sz="2112">
                <a:solidFill>
                  <a:srgbClr val="094850"/>
                </a:solidFill>
                <a:latin typeface="Inter"/>
                <a:ea typeface="Inter"/>
                <a:cs typeface="Inter"/>
                <a:sym typeface="Inter"/>
              </a:rPr>
              <a:t> 7 + 1 = 8 kịch bản.</a:t>
            </a:r>
          </a:p>
          <a:p>
            <a:pPr algn="l" marL="456039" indent="-228020" lvl="1">
              <a:lnSpc>
                <a:spcPts val="2534"/>
              </a:lnSpc>
              <a:buFont typeface="Arial"/>
              <a:buChar char="•"/>
            </a:pPr>
            <a:r>
              <a:rPr lang="en-US" sz="2112">
                <a:solidFill>
                  <a:srgbClr val="094850"/>
                </a:solidFill>
                <a:latin typeface="Inter"/>
                <a:ea typeface="Inter"/>
                <a:cs typeface="Inter"/>
                <a:sym typeface="Inter"/>
              </a:rPr>
              <a:t>P</a:t>
            </a:r>
            <a:r>
              <a:rPr lang="en-US" sz="2112">
                <a:solidFill>
                  <a:srgbClr val="094850"/>
                </a:solidFill>
                <a:latin typeface="Inter"/>
                <a:ea typeface="Inter"/>
                <a:cs typeface="Inter"/>
                <a:sym typeface="Inter"/>
              </a:rPr>
              <a:t>hương pháp McCabe:</a:t>
            </a:r>
          </a:p>
          <a:p>
            <a:pPr algn="l" marL="912078" indent="-304026" lvl="2">
              <a:lnSpc>
                <a:spcPts val="2534"/>
              </a:lnSpc>
              <a:buFont typeface="Arial"/>
              <a:buChar char="⚬"/>
            </a:pPr>
            <a:r>
              <a:rPr lang="en-US" sz="2112">
                <a:solidFill>
                  <a:srgbClr val="094850"/>
                </a:solidFill>
                <a:latin typeface="Inter"/>
                <a:ea typeface="Inter"/>
                <a:cs typeface="Inter"/>
                <a:sym typeface="Inter"/>
              </a:rPr>
              <a:t>Công thức: CC = E - N + 2 (E là số cạnh, N là số khối).</a:t>
            </a:r>
          </a:p>
          <a:p>
            <a:pPr algn="l" marL="912078" indent="-304026" lvl="2">
              <a:lnSpc>
                <a:spcPts val="2534"/>
              </a:lnSpc>
              <a:buFont typeface="Arial"/>
              <a:buChar char="⚬"/>
            </a:pPr>
            <a:r>
              <a:rPr lang="en-US" sz="2112">
                <a:solidFill>
                  <a:srgbClr val="094850"/>
                </a:solidFill>
                <a:latin typeface="Inter"/>
                <a:ea typeface="Inter"/>
                <a:cs typeface="Inter"/>
                <a:sym typeface="Inter"/>
              </a:rPr>
              <a:t>Áp dụng: CC = 21 - 15 + 2 = 8 kịch bản.</a:t>
            </a:r>
          </a:p>
          <a:p>
            <a:pPr algn="l" marL="456039" indent="-228020" lvl="1">
              <a:lnSpc>
                <a:spcPts val="2534"/>
              </a:lnSpc>
              <a:buFont typeface="Arial"/>
              <a:buChar char="•"/>
            </a:pPr>
            <a:r>
              <a:rPr lang="en-US" sz="2112">
                <a:solidFill>
                  <a:srgbClr val="094850"/>
                </a:solidFill>
                <a:latin typeface="Inter"/>
                <a:ea typeface="Inter"/>
                <a:cs typeface="Inter"/>
                <a:sym typeface="Inter"/>
              </a:rPr>
              <a:t>Kết luận: Hai phương pháp độc lập cho ra kết quả trùng khớp. Hàm Giảm giá yêu cầu thiết kế chính xác 8 kịch bản cơ sở. </a:t>
            </a:r>
          </a:p>
          <a:p>
            <a:pPr algn="l">
              <a:lnSpc>
                <a:spcPts val="2534"/>
              </a:lnSpc>
            </a:pPr>
            <a:r>
              <a:rPr lang="en-US" b="true" sz="2112">
                <a:solidFill>
                  <a:srgbClr val="094850"/>
                </a:solidFill>
                <a:latin typeface="Inter Bold"/>
                <a:ea typeface="Inter Bold"/>
                <a:cs typeface="Inter Bold"/>
                <a:sym typeface="Inter Bold"/>
              </a:rPr>
              <a:t>2. Đánh giá tỷ lệ Bao phủ nhánh (Branch Coverage)</a:t>
            </a:r>
          </a:p>
          <a:p>
            <a:pPr algn="l" marL="456039" indent="-228020" lvl="1">
              <a:lnSpc>
                <a:spcPts val="2534"/>
              </a:lnSpc>
              <a:buFont typeface="Arial"/>
              <a:buChar char="•"/>
            </a:pPr>
            <a:r>
              <a:rPr lang="en-US" sz="2112">
                <a:solidFill>
                  <a:srgbClr val="094850"/>
                </a:solidFill>
                <a:latin typeface="Inter"/>
                <a:ea typeface="Inter"/>
                <a:cs typeface="Inter"/>
                <a:sym typeface="Inter"/>
              </a:rPr>
              <a:t>Tổng số nhánh cần phủ: 2 x Số điều kiện = 2 x 7 = 14 nhánh (Đúng/Sai). </a:t>
            </a:r>
          </a:p>
          <a:p>
            <a:pPr algn="l" marL="456039" indent="-228020" lvl="1">
              <a:lnSpc>
                <a:spcPts val="2534"/>
              </a:lnSpc>
              <a:buFont typeface="Arial"/>
              <a:buChar char="•"/>
            </a:pPr>
            <a:r>
              <a:rPr lang="en-US" sz="2112">
                <a:solidFill>
                  <a:srgbClr val="094850"/>
                </a:solidFill>
                <a:latin typeface="Inter"/>
                <a:ea typeface="Inter"/>
                <a:cs typeface="Inter"/>
                <a:sym typeface="Inter"/>
              </a:rPr>
              <a:t>Công thức đo lường: Branch Coverage = (Số nhánh đã đi qua / Tổng số nhánh) x 100%. </a:t>
            </a:r>
          </a:p>
          <a:p>
            <a:pPr algn="l" marL="456039" indent="-228020" lvl="1">
              <a:lnSpc>
                <a:spcPts val="2534"/>
              </a:lnSpc>
              <a:buFont typeface="Arial"/>
              <a:buChar char="•"/>
            </a:pPr>
            <a:r>
              <a:rPr lang="en-US" sz="2112">
                <a:solidFill>
                  <a:srgbClr val="094850"/>
                </a:solidFill>
                <a:latin typeface="Inter"/>
                <a:ea typeface="Inter"/>
                <a:cs typeface="Inter"/>
                <a:sym typeface="Inter"/>
              </a:rPr>
              <a:t>Kết quả thực tế: Branch Coverage = (14 / 14) x 100% = 100%.</a:t>
            </a:r>
          </a:p>
          <a:p>
            <a:pPr algn="l" marL="456039" indent="-228020" lvl="1">
              <a:lnSpc>
                <a:spcPts val="2534"/>
              </a:lnSpc>
              <a:buFont typeface="Arial"/>
              <a:buChar char="•"/>
            </a:pPr>
            <a:r>
              <a:rPr lang="en-US" sz="2112">
                <a:solidFill>
                  <a:srgbClr val="094850"/>
                </a:solidFill>
                <a:latin typeface="Inter"/>
                <a:ea typeface="Inter"/>
                <a:cs typeface="Inter"/>
                <a:sym typeface="Inter"/>
              </a:rPr>
              <a:t>Khẳng định: Bộ 8 kịch bản đã quét sạch toàn bộ 14 con đường rẽ nhánh của mã nguồn, đảm bảo không bỏ sót yêu cầu nghiệp vụ.</a:t>
            </a:r>
          </a:p>
        </p:txBody>
      </p:sp>
      <p:sp>
        <p:nvSpPr>
          <p:cNvPr name="Freeform 4" id="4"/>
          <p:cNvSpPr/>
          <p:nvPr/>
        </p:nvSpPr>
        <p:spPr>
          <a:xfrm flipH="false" flipV="false" rot="0">
            <a:off x="1444121" y="5156816"/>
            <a:ext cx="9407664" cy="4932010"/>
          </a:xfrm>
          <a:custGeom>
            <a:avLst/>
            <a:gdLst/>
            <a:ahLst/>
            <a:cxnLst/>
            <a:rect r="r" b="b" t="t" l="l"/>
            <a:pathLst>
              <a:path h="4932010" w="9407664">
                <a:moveTo>
                  <a:pt x="0" y="0"/>
                </a:moveTo>
                <a:lnTo>
                  <a:pt x="9407664" y="0"/>
                </a:lnTo>
                <a:lnTo>
                  <a:pt x="9407664" y="4932010"/>
                </a:lnTo>
                <a:lnTo>
                  <a:pt x="0" y="4932010"/>
                </a:lnTo>
                <a:lnTo>
                  <a:pt x="0" y="0"/>
                </a:lnTo>
                <a:close/>
              </a:path>
            </a:pathLst>
          </a:custGeom>
          <a:blipFill>
            <a:blip r:embed="rId3"/>
            <a:stretch>
              <a:fillRect l="0" t="-1988"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89E798"/>
        </a:solidFill>
      </p:bgPr>
    </p:bg>
    <p:spTree>
      <p:nvGrpSpPr>
        <p:cNvPr id="1" name=""/>
        <p:cNvGrpSpPr/>
        <p:nvPr/>
      </p:nvGrpSpPr>
      <p:grpSpPr>
        <a:xfrm>
          <a:off x="0" y="0"/>
          <a:ext cx="0" cy="0"/>
          <a:chOff x="0" y="0"/>
          <a:chExt cx="0" cy="0"/>
        </a:xfrm>
      </p:grpSpPr>
      <p:sp>
        <p:nvSpPr>
          <p:cNvPr name="TextBox 2" id="2"/>
          <p:cNvSpPr txBox="true"/>
          <p:nvPr/>
        </p:nvSpPr>
        <p:spPr>
          <a:xfrm rot="0">
            <a:off x="344100" y="322914"/>
            <a:ext cx="12037269" cy="5037790"/>
          </a:xfrm>
          <a:prstGeom prst="rect">
            <a:avLst/>
          </a:prstGeom>
        </p:spPr>
        <p:txBody>
          <a:bodyPr anchor="t" rtlCol="false" tIns="0" lIns="0" bIns="0" rIns="0">
            <a:spAutoFit/>
          </a:bodyPr>
          <a:lstStyle/>
          <a:p>
            <a:pPr algn="l">
              <a:lnSpc>
                <a:spcPts val="2534"/>
              </a:lnSpc>
            </a:pPr>
            <a:r>
              <a:rPr lang="en-US" sz="2112" b="true">
                <a:solidFill>
                  <a:srgbClr val="094850"/>
                </a:solidFill>
                <a:latin typeface="Inter Bold"/>
                <a:ea typeface="Inter Bold"/>
                <a:cs typeface="Inter Bold"/>
                <a:sym typeface="Inter Bold"/>
              </a:rPr>
              <a:t>1. Minh chứng Toán học tính Độ phức tạp thuật toán (CC)</a:t>
            </a:r>
          </a:p>
          <a:p>
            <a:pPr algn="l" marL="456039" indent="-228020" lvl="1">
              <a:lnSpc>
                <a:spcPts val="2534"/>
              </a:lnSpc>
              <a:buFont typeface="Arial"/>
              <a:buChar char="•"/>
            </a:pPr>
            <a:r>
              <a:rPr lang="en-US" sz="2112">
                <a:solidFill>
                  <a:srgbClr val="094850"/>
                </a:solidFill>
                <a:latin typeface="Inter"/>
                <a:ea typeface="Inter"/>
                <a:cs typeface="Inter"/>
                <a:sym typeface="Inter"/>
              </a:rPr>
              <a:t>P</a:t>
            </a:r>
            <a:r>
              <a:rPr lang="en-US" sz="2112">
                <a:solidFill>
                  <a:srgbClr val="094850"/>
                </a:solidFill>
                <a:latin typeface="Inter"/>
                <a:ea typeface="Inter"/>
                <a:cs typeface="Inter"/>
                <a:sym typeface="Inter"/>
              </a:rPr>
              <a:t>hương pháp đếm nút</a:t>
            </a:r>
            <a:r>
              <a:rPr lang="en-US" sz="2112">
                <a:solidFill>
                  <a:srgbClr val="094850"/>
                </a:solidFill>
                <a:latin typeface="Inter"/>
                <a:ea typeface="Inter"/>
                <a:cs typeface="Inter"/>
                <a:sym typeface="Inter"/>
              </a:rPr>
              <a:t> rẽ nhánh:</a:t>
            </a:r>
          </a:p>
          <a:p>
            <a:pPr algn="l" marL="912078" indent="-304026" lvl="2">
              <a:lnSpc>
                <a:spcPts val="2534"/>
              </a:lnSpc>
              <a:buFont typeface="Arial"/>
              <a:buChar char="⚬"/>
            </a:pPr>
            <a:r>
              <a:rPr lang="en-US" sz="2112">
                <a:solidFill>
                  <a:srgbClr val="094850"/>
                </a:solidFill>
                <a:latin typeface="Inter"/>
                <a:ea typeface="Inter"/>
                <a:cs typeface="Inter"/>
                <a:sym typeface="Inter"/>
              </a:rPr>
              <a:t>Công thức: CC = P + 1 (P là số lượng hình thoi rẽ nhánh).</a:t>
            </a:r>
          </a:p>
          <a:p>
            <a:pPr algn="l" marL="912078" indent="-304026" lvl="2">
              <a:lnSpc>
                <a:spcPts val="2534"/>
              </a:lnSpc>
              <a:buFont typeface="Arial"/>
              <a:buChar char="⚬"/>
            </a:pPr>
            <a:r>
              <a:rPr lang="en-US" sz="2112">
                <a:solidFill>
                  <a:srgbClr val="094850"/>
                </a:solidFill>
                <a:latin typeface="Inter"/>
                <a:ea typeface="Inter"/>
                <a:cs typeface="Inter"/>
                <a:sym typeface="Inter"/>
              </a:rPr>
              <a:t>Áp dụng: CC =</a:t>
            </a:r>
            <a:r>
              <a:rPr lang="en-US" sz="2112">
                <a:solidFill>
                  <a:srgbClr val="094850"/>
                </a:solidFill>
                <a:latin typeface="Inter"/>
                <a:ea typeface="Inter"/>
                <a:cs typeface="Inter"/>
                <a:sym typeface="Inter"/>
              </a:rPr>
              <a:t> 8 + 1 = 9 kịch bản.</a:t>
            </a:r>
          </a:p>
          <a:p>
            <a:pPr algn="l" marL="456039" indent="-228020" lvl="1">
              <a:lnSpc>
                <a:spcPts val="2534"/>
              </a:lnSpc>
              <a:buFont typeface="Arial"/>
              <a:buChar char="•"/>
            </a:pPr>
            <a:r>
              <a:rPr lang="en-US" sz="2112">
                <a:solidFill>
                  <a:srgbClr val="094850"/>
                </a:solidFill>
                <a:latin typeface="Inter"/>
                <a:ea typeface="Inter"/>
                <a:cs typeface="Inter"/>
                <a:sym typeface="Inter"/>
              </a:rPr>
              <a:t>P</a:t>
            </a:r>
            <a:r>
              <a:rPr lang="en-US" sz="2112">
                <a:solidFill>
                  <a:srgbClr val="094850"/>
                </a:solidFill>
                <a:latin typeface="Inter"/>
                <a:ea typeface="Inter"/>
                <a:cs typeface="Inter"/>
                <a:sym typeface="Inter"/>
              </a:rPr>
              <a:t>hương pháp McCabe:</a:t>
            </a:r>
          </a:p>
          <a:p>
            <a:pPr algn="l" marL="912078" indent="-304026" lvl="2">
              <a:lnSpc>
                <a:spcPts val="2534"/>
              </a:lnSpc>
              <a:buFont typeface="Arial"/>
              <a:buChar char="⚬"/>
            </a:pPr>
            <a:r>
              <a:rPr lang="en-US" sz="2112">
                <a:solidFill>
                  <a:srgbClr val="094850"/>
                </a:solidFill>
                <a:latin typeface="Inter"/>
                <a:ea typeface="Inter"/>
                <a:cs typeface="Inter"/>
                <a:sym typeface="Inter"/>
              </a:rPr>
              <a:t>Công thức: CC = E - N + 2 (E là số cạnh, N là số khối).</a:t>
            </a:r>
          </a:p>
          <a:p>
            <a:pPr algn="l" marL="912078" indent="-304026" lvl="2">
              <a:lnSpc>
                <a:spcPts val="2534"/>
              </a:lnSpc>
              <a:buFont typeface="Arial"/>
              <a:buChar char="⚬"/>
            </a:pPr>
            <a:r>
              <a:rPr lang="en-US" sz="2112">
                <a:solidFill>
                  <a:srgbClr val="094850"/>
                </a:solidFill>
                <a:latin typeface="Inter"/>
                <a:ea typeface="Inter"/>
                <a:cs typeface="Inter"/>
                <a:sym typeface="Inter"/>
              </a:rPr>
              <a:t>Áp dụng: CC = 24 - 17 + 2 = 9 kịch bản.</a:t>
            </a:r>
          </a:p>
          <a:p>
            <a:pPr algn="l" marL="456039" indent="-228020" lvl="1">
              <a:lnSpc>
                <a:spcPts val="2534"/>
              </a:lnSpc>
              <a:buFont typeface="Arial"/>
              <a:buChar char="•"/>
            </a:pPr>
            <a:r>
              <a:rPr lang="en-US" sz="2112">
                <a:solidFill>
                  <a:srgbClr val="094850"/>
                </a:solidFill>
                <a:latin typeface="Inter"/>
                <a:ea typeface="Inter"/>
                <a:cs typeface="Inter"/>
                <a:sym typeface="Inter"/>
              </a:rPr>
              <a:t>Kết luận: Hai phương pháp độc lập cho ra kết quả trùng khớp. Hàm Vận chuyển yêu cầu thiết kế chính xác 9 kịch bản cơ sở. </a:t>
            </a:r>
          </a:p>
          <a:p>
            <a:pPr algn="l">
              <a:lnSpc>
                <a:spcPts val="2534"/>
              </a:lnSpc>
            </a:pPr>
            <a:r>
              <a:rPr lang="en-US" b="true" sz="2112">
                <a:solidFill>
                  <a:srgbClr val="094850"/>
                </a:solidFill>
                <a:latin typeface="Inter Bold"/>
                <a:ea typeface="Inter Bold"/>
                <a:cs typeface="Inter Bold"/>
                <a:sym typeface="Inter Bold"/>
              </a:rPr>
              <a:t>2. Đánh giá Tỷ lệ Bao phủ nhánh (Branch Coverage)</a:t>
            </a:r>
          </a:p>
          <a:p>
            <a:pPr algn="l" marL="456039" indent="-228020" lvl="1">
              <a:lnSpc>
                <a:spcPts val="2534"/>
              </a:lnSpc>
              <a:buFont typeface="Arial"/>
              <a:buChar char="•"/>
            </a:pPr>
            <a:r>
              <a:rPr lang="en-US" sz="2112">
                <a:solidFill>
                  <a:srgbClr val="094850"/>
                </a:solidFill>
                <a:latin typeface="Inter"/>
                <a:ea typeface="Inter"/>
                <a:cs typeface="Inter"/>
                <a:sym typeface="Inter"/>
              </a:rPr>
              <a:t>Tổng số nhánh cần phủ: 2 x Số điều kiện = 2 x 8 = 16 nhánh (Đúng/Sai). </a:t>
            </a:r>
          </a:p>
          <a:p>
            <a:pPr algn="l" marL="456039" indent="-228020" lvl="1">
              <a:lnSpc>
                <a:spcPts val="2534"/>
              </a:lnSpc>
              <a:buFont typeface="Arial"/>
              <a:buChar char="•"/>
            </a:pPr>
            <a:r>
              <a:rPr lang="en-US" sz="2112">
                <a:solidFill>
                  <a:srgbClr val="094850"/>
                </a:solidFill>
                <a:latin typeface="Inter"/>
                <a:ea typeface="Inter"/>
                <a:cs typeface="Inter"/>
                <a:sym typeface="Inter"/>
              </a:rPr>
              <a:t>Công thức đo lường: Branch Coverage = (Số nhánh đã đi qua / Tổng số nhánh) x 100%. </a:t>
            </a:r>
          </a:p>
          <a:p>
            <a:pPr algn="l" marL="456039" indent="-228020" lvl="1">
              <a:lnSpc>
                <a:spcPts val="2534"/>
              </a:lnSpc>
              <a:buFont typeface="Arial"/>
              <a:buChar char="•"/>
            </a:pPr>
            <a:r>
              <a:rPr lang="en-US" sz="2112">
                <a:solidFill>
                  <a:srgbClr val="094850"/>
                </a:solidFill>
                <a:latin typeface="Inter"/>
                <a:ea typeface="Inter"/>
                <a:cs typeface="Inter"/>
                <a:sym typeface="Inter"/>
              </a:rPr>
              <a:t>Kết quả thực tế: Branch Coverage = (16 / 16) x 100% = 100%. </a:t>
            </a:r>
          </a:p>
          <a:p>
            <a:pPr algn="l" marL="456039" indent="-228020" lvl="1">
              <a:lnSpc>
                <a:spcPts val="2534"/>
              </a:lnSpc>
              <a:buFont typeface="Arial"/>
              <a:buChar char="•"/>
            </a:pPr>
            <a:r>
              <a:rPr lang="en-US" sz="2112">
                <a:solidFill>
                  <a:srgbClr val="094850"/>
                </a:solidFill>
                <a:latin typeface="Inter"/>
                <a:ea typeface="Inter"/>
                <a:cs typeface="Inter"/>
                <a:sym typeface="Inter"/>
              </a:rPr>
              <a:t>Khẳng định: Bộ 9 kịch bản đã quét sạch toàn bộ 16 con đường rẽ nhánh của mã nguồn, đảm bảo không bỏ sót yêu cầu nghiệp vụ.</a:t>
            </a:r>
          </a:p>
          <a:p>
            <a:pPr algn="l">
              <a:lnSpc>
                <a:spcPts val="2534"/>
              </a:lnSpc>
            </a:pPr>
          </a:p>
        </p:txBody>
      </p:sp>
      <p:sp>
        <p:nvSpPr>
          <p:cNvPr name="Freeform 3" id="3"/>
          <p:cNvSpPr/>
          <p:nvPr/>
        </p:nvSpPr>
        <p:spPr>
          <a:xfrm flipH="false" flipV="false" rot="0">
            <a:off x="12381369" y="338975"/>
            <a:ext cx="5128830" cy="9609049"/>
          </a:xfrm>
          <a:custGeom>
            <a:avLst/>
            <a:gdLst/>
            <a:ahLst/>
            <a:cxnLst/>
            <a:rect r="r" b="b" t="t" l="l"/>
            <a:pathLst>
              <a:path h="9609049" w="5128830">
                <a:moveTo>
                  <a:pt x="0" y="0"/>
                </a:moveTo>
                <a:lnTo>
                  <a:pt x="5128830" y="0"/>
                </a:lnTo>
                <a:lnTo>
                  <a:pt x="5128830" y="9609050"/>
                </a:lnTo>
                <a:lnTo>
                  <a:pt x="0" y="9609050"/>
                </a:lnTo>
                <a:lnTo>
                  <a:pt x="0" y="0"/>
                </a:lnTo>
                <a:close/>
              </a:path>
            </a:pathLst>
          </a:custGeom>
          <a:blipFill>
            <a:blip r:embed="rId2"/>
            <a:stretch>
              <a:fillRect l="0" t="0" r="0" b="0"/>
            </a:stretch>
          </a:blipFill>
        </p:spPr>
      </p:sp>
      <p:sp>
        <p:nvSpPr>
          <p:cNvPr name="Freeform 4" id="4"/>
          <p:cNvSpPr/>
          <p:nvPr/>
        </p:nvSpPr>
        <p:spPr>
          <a:xfrm flipH="false" flipV="false" rot="0">
            <a:off x="2015349" y="5143500"/>
            <a:ext cx="8887773" cy="4977756"/>
          </a:xfrm>
          <a:custGeom>
            <a:avLst/>
            <a:gdLst/>
            <a:ahLst/>
            <a:cxnLst/>
            <a:rect r="r" b="b" t="t" l="l"/>
            <a:pathLst>
              <a:path h="4977756" w="8887773">
                <a:moveTo>
                  <a:pt x="0" y="0"/>
                </a:moveTo>
                <a:lnTo>
                  <a:pt x="8887773" y="0"/>
                </a:lnTo>
                <a:lnTo>
                  <a:pt x="8887773" y="4977756"/>
                </a:lnTo>
                <a:lnTo>
                  <a:pt x="0" y="4977756"/>
                </a:lnTo>
                <a:lnTo>
                  <a:pt x="0" y="0"/>
                </a:lnTo>
                <a:close/>
              </a:path>
            </a:pathLst>
          </a:custGeom>
          <a:blipFill>
            <a:blip r:embed="rId3"/>
            <a:stretch>
              <a:fillRect l="0" t="-2219"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4917643" y="295120"/>
            <a:ext cx="7047481" cy="733580"/>
          </a:xfrm>
          <a:prstGeom prst="rect">
            <a:avLst/>
          </a:prstGeom>
        </p:spPr>
        <p:txBody>
          <a:bodyPr anchor="t" rtlCol="false" tIns="0" lIns="0" bIns="0" rIns="0">
            <a:spAutoFit/>
          </a:bodyPr>
          <a:lstStyle/>
          <a:p>
            <a:pPr algn="l">
              <a:lnSpc>
                <a:spcPts val="5447"/>
              </a:lnSpc>
            </a:pPr>
            <a:r>
              <a:rPr lang="en-US" sz="5447">
                <a:solidFill>
                  <a:srgbClr val="094850"/>
                </a:solidFill>
                <a:latin typeface="Inter"/>
                <a:ea typeface="Inter"/>
                <a:cs typeface="Inter"/>
                <a:sym typeface="Inter"/>
              </a:rPr>
              <a:t>THỰC THI KIỂM THỬ</a:t>
            </a:r>
          </a:p>
        </p:txBody>
      </p:sp>
      <p:sp>
        <p:nvSpPr>
          <p:cNvPr name="TextBox 3" id="3"/>
          <p:cNvSpPr txBox="true"/>
          <p:nvPr/>
        </p:nvSpPr>
        <p:spPr>
          <a:xfrm rot="0">
            <a:off x="612537" y="1165712"/>
            <a:ext cx="7972973" cy="8448901"/>
          </a:xfrm>
          <a:prstGeom prst="rect">
            <a:avLst/>
          </a:prstGeom>
        </p:spPr>
        <p:txBody>
          <a:bodyPr anchor="t" rtlCol="false" tIns="0" lIns="0" bIns="0" rIns="0">
            <a:spAutoFit/>
          </a:bodyPr>
          <a:lstStyle/>
          <a:p>
            <a:pPr algn="l">
              <a:lnSpc>
                <a:spcPts val="2849"/>
              </a:lnSpc>
            </a:pPr>
            <a:r>
              <a:rPr lang="en-US" sz="2192" b="true">
                <a:solidFill>
                  <a:srgbClr val="000000"/>
                </a:solidFill>
                <a:latin typeface="Inter Bold"/>
                <a:ea typeface="Inter Bold"/>
                <a:cs typeface="Inter Bold"/>
                <a:sym typeface="Inter Bold"/>
              </a:rPr>
              <a:t>1. Nền tảng và kỹ thuật thực thi</a:t>
            </a:r>
          </a:p>
          <a:p>
            <a:pPr algn="l" marL="473253" indent="-236627" lvl="1">
              <a:lnSpc>
                <a:spcPts val="2849"/>
              </a:lnSpc>
              <a:buFont typeface="Arial"/>
              <a:buChar char="•"/>
            </a:pPr>
            <a:r>
              <a:rPr lang="en-US" sz="2192">
                <a:solidFill>
                  <a:srgbClr val="000000"/>
                </a:solidFill>
                <a:latin typeface="Inter"/>
                <a:ea typeface="Inter"/>
                <a:cs typeface="Inter"/>
                <a:sym typeface="Inter"/>
              </a:rPr>
              <a:t>Công</a:t>
            </a:r>
            <a:r>
              <a:rPr lang="en-US" sz="2192">
                <a:solidFill>
                  <a:srgbClr val="000000"/>
                </a:solidFill>
                <a:latin typeface="Inter"/>
                <a:ea typeface="Inter"/>
                <a:cs typeface="Inter"/>
                <a:sym typeface="Inter"/>
              </a:rPr>
              <a:t> </a:t>
            </a:r>
            <a:r>
              <a:rPr lang="en-US" sz="2192">
                <a:solidFill>
                  <a:srgbClr val="000000"/>
                </a:solidFill>
                <a:latin typeface="Inter"/>
                <a:ea typeface="Inter"/>
                <a:cs typeface="Inter"/>
                <a:sym typeface="Inter"/>
              </a:rPr>
              <a:t>cụ</a:t>
            </a:r>
            <a:r>
              <a:rPr lang="en-US" sz="2192">
                <a:solidFill>
                  <a:srgbClr val="000000"/>
                </a:solidFill>
                <a:latin typeface="Inter"/>
                <a:ea typeface="Inter"/>
                <a:cs typeface="Inter"/>
                <a:sym typeface="Inter"/>
              </a:rPr>
              <a:t> </a:t>
            </a:r>
            <a:r>
              <a:rPr lang="en-US" sz="2192">
                <a:solidFill>
                  <a:srgbClr val="000000"/>
                </a:solidFill>
                <a:latin typeface="Inter"/>
                <a:ea typeface="Inter"/>
                <a:cs typeface="Inter"/>
                <a:sym typeface="Inter"/>
              </a:rPr>
              <a:t>và Môi trường:</a:t>
            </a:r>
            <a:r>
              <a:rPr lang="en-US" sz="2192">
                <a:solidFill>
                  <a:srgbClr val="000000"/>
                </a:solidFill>
                <a:latin typeface="Inter"/>
                <a:ea typeface="Inter"/>
                <a:cs typeface="Inter"/>
                <a:sym typeface="Inter"/>
              </a:rPr>
              <a:t> Mã nguồn được phát triển</a:t>
            </a:r>
            <a:r>
              <a:rPr lang="en-US" sz="2192">
                <a:solidFill>
                  <a:srgbClr val="000000"/>
                </a:solidFill>
                <a:latin typeface="Inter"/>
                <a:ea typeface="Inter"/>
                <a:cs typeface="Inter"/>
                <a:sym typeface="Inter"/>
              </a:rPr>
              <a:t> trên IntelliJ, quản lý thư viện tập trung qua tệp cấu hình pom xml với</a:t>
            </a:r>
            <a:r>
              <a:rPr lang="en-US" sz="2192">
                <a:solidFill>
                  <a:srgbClr val="000000"/>
                </a:solidFill>
                <a:latin typeface="Inter"/>
                <a:ea typeface="Inter"/>
                <a:cs typeface="Inter"/>
                <a:sym typeface="Inter"/>
              </a:rPr>
              <a:t> bộ k</a:t>
            </a:r>
            <a:r>
              <a:rPr lang="en-US" sz="2192">
                <a:solidFill>
                  <a:srgbClr val="000000"/>
                </a:solidFill>
                <a:latin typeface="Inter"/>
                <a:ea typeface="Inter"/>
                <a:cs typeface="Inter"/>
                <a:sym typeface="Inter"/>
              </a:rPr>
              <a:t>hung Java 17, Maven và JUnit 5.</a:t>
            </a:r>
          </a:p>
          <a:p>
            <a:pPr algn="l" marL="473253" indent="-236627" lvl="1">
              <a:lnSpc>
                <a:spcPts val="2849"/>
              </a:lnSpc>
              <a:buFont typeface="Arial"/>
              <a:buChar char="•"/>
            </a:pPr>
            <a:r>
              <a:rPr lang="en-US" sz="2192">
                <a:solidFill>
                  <a:srgbClr val="000000"/>
                </a:solidFill>
                <a:latin typeface="Inter"/>
                <a:ea typeface="Inter"/>
                <a:cs typeface="Inter"/>
                <a:sym typeface="Inter"/>
              </a:rPr>
              <a:t>Cấp độ kiểm thử: Mã hóa 17 kịch bản từ Excel thành các phương thức Unit Test độc lập. T</a:t>
            </a:r>
            <a:r>
              <a:rPr lang="en-US" sz="2192">
                <a:solidFill>
                  <a:srgbClr val="000000"/>
                </a:solidFill>
                <a:latin typeface="Inter"/>
                <a:ea typeface="Inter"/>
                <a:cs typeface="Inter"/>
                <a:sym typeface="Inter"/>
              </a:rPr>
              <a:t>iếp</a:t>
            </a:r>
            <a:r>
              <a:rPr lang="en-US" sz="2192">
                <a:solidFill>
                  <a:srgbClr val="000000"/>
                </a:solidFill>
                <a:latin typeface="Inter"/>
                <a:ea typeface="Inter"/>
                <a:cs typeface="Inter"/>
                <a:sym typeface="Inter"/>
              </a:rPr>
              <a:t> đó, ứng dụng kỹ thuật Suite Testing cùng từ khóa báo hiệu @Suite để đóng gói toàn diện.</a:t>
            </a:r>
          </a:p>
          <a:p>
            <a:pPr algn="l" marL="473253" indent="-236627" lvl="1">
              <a:lnSpc>
                <a:spcPts val="2849"/>
              </a:lnSpc>
              <a:buFont typeface="Arial"/>
              <a:buChar char="•"/>
            </a:pPr>
            <a:r>
              <a:rPr lang="en-US" sz="2192">
                <a:solidFill>
                  <a:srgbClr val="000000"/>
                </a:solidFill>
                <a:latin typeface="Inter"/>
                <a:ea typeface="Inter"/>
                <a:cs typeface="Inter"/>
                <a:sym typeface="Inter"/>
              </a:rPr>
              <a:t>Thực thi: Chỉ cần lệnh mvn test để tự động kích hoạt toàn bộ hệ thống.</a:t>
            </a:r>
          </a:p>
          <a:p>
            <a:pPr algn="l">
              <a:lnSpc>
                <a:spcPts val="2849"/>
              </a:lnSpc>
            </a:pPr>
            <a:r>
              <a:rPr lang="en-US" b="true" sz="2192">
                <a:solidFill>
                  <a:srgbClr val="000000"/>
                </a:solidFill>
                <a:latin typeface="Inter Bold"/>
                <a:ea typeface="Inter Bold"/>
                <a:cs typeface="Inter Bold"/>
                <a:sym typeface="Inter Bold"/>
              </a:rPr>
              <a:t>2. Đo lường và thống kê</a:t>
            </a:r>
            <a:r>
              <a:rPr lang="en-US" b="true" sz="2192">
                <a:solidFill>
                  <a:srgbClr val="000000"/>
                </a:solidFill>
                <a:latin typeface="Inter Bold"/>
                <a:ea typeface="Inter Bold"/>
                <a:cs typeface="Inter Bold"/>
                <a:sym typeface="Inter Bold"/>
              </a:rPr>
              <a:t> kết quả</a:t>
            </a:r>
          </a:p>
          <a:p>
            <a:pPr algn="l" marL="473253" indent="-236627" lvl="1">
              <a:lnSpc>
                <a:spcPts val="2849"/>
              </a:lnSpc>
              <a:buFont typeface="Arial"/>
              <a:buChar char="•"/>
            </a:pPr>
            <a:r>
              <a:rPr lang="en-US" sz="2192">
                <a:solidFill>
                  <a:srgbClr val="000000"/>
                </a:solidFill>
                <a:latin typeface="Inter"/>
                <a:ea typeface="Inter"/>
                <a:cs typeface="Inter"/>
                <a:sym typeface="Inter"/>
              </a:rPr>
              <a:t>Hiệu suất và Độ phủ: Tổng thời gian quét sạch 17 kịch bản chưa tới 1 giây. Chỉ số bao phủ mã nguồn Code Coverage do công cụ JaCoCo đo lường đạt tuyệt đối 100 phần trăm.</a:t>
            </a:r>
          </a:p>
          <a:p>
            <a:pPr algn="l" marL="473253" indent="-236627" lvl="1">
              <a:lnSpc>
                <a:spcPts val="2849"/>
              </a:lnSpc>
              <a:buFont typeface="Arial"/>
              <a:buChar char="•"/>
            </a:pPr>
            <a:r>
              <a:rPr lang="en-US" sz="2192">
                <a:solidFill>
                  <a:srgbClr val="000000"/>
                </a:solidFill>
                <a:latin typeface="Inter"/>
                <a:ea typeface="Inter"/>
                <a:cs typeface="Inter"/>
                <a:sym typeface="Inter"/>
              </a:rPr>
              <a:t>Trạng thái: Tỷ lệ thành công đạt 76.5 phần trăm với 13 ca Đạt và 4 ca Lỗi.</a:t>
            </a:r>
          </a:p>
          <a:p>
            <a:pPr algn="l">
              <a:lnSpc>
                <a:spcPts val="2849"/>
              </a:lnSpc>
            </a:pPr>
            <a:r>
              <a:rPr lang="en-US" b="true" sz="2192">
                <a:solidFill>
                  <a:srgbClr val="000000"/>
                </a:solidFill>
                <a:latin typeface="Inter Bold"/>
                <a:ea typeface="Inter Bold"/>
                <a:cs typeface="Inter Bold"/>
                <a:sym typeface="Inter Bold"/>
              </a:rPr>
              <a:t>3. Đánh giá ưu điểm tự động hóa</a:t>
            </a:r>
          </a:p>
          <a:p>
            <a:pPr algn="l" marL="473253" indent="-236627" lvl="1">
              <a:lnSpc>
                <a:spcPts val="2849"/>
              </a:lnSpc>
              <a:buFont typeface="Arial"/>
              <a:buChar char="•"/>
            </a:pPr>
            <a:r>
              <a:rPr lang="en-US" sz="2192">
                <a:solidFill>
                  <a:srgbClr val="000000"/>
                </a:solidFill>
                <a:latin typeface="Inter"/>
                <a:ea typeface="Inter"/>
                <a:cs typeface="Inter"/>
                <a:sym typeface="Inter"/>
              </a:rPr>
              <a:t>Tính nhấ</a:t>
            </a:r>
            <a:r>
              <a:rPr lang="en-US" sz="2192">
                <a:solidFill>
                  <a:srgbClr val="000000"/>
                </a:solidFill>
                <a:latin typeface="Inter"/>
                <a:ea typeface="Inter"/>
                <a:cs typeface="Inter"/>
                <a:sym typeface="Inter"/>
              </a:rPr>
              <a:t>t quán: Đảm bảo kết quả đồng nhất tuyệt đối dù thực thi lại hàng trăm lần.</a:t>
            </a:r>
          </a:p>
          <a:p>
            <a:pPr algn="l" marL="473253" indent="-236627" lvl="1">
              <a:lnSpc>
                <a:spcPts val="2849"/>
              </a:lnSpc>
              <a:buFont typeface="Arial"/>
              <a:buChar char="•"/>
            </a:pPr>
            <a:r>
              <a:rPr lang="en-US" sz="2192">
                <a:solidFill>
                  <a:srgbClr val="000000"/>
                </a:solidFill>
                <a:latin typeface="Inter"/>
                <a:ea typeface="Inter"/>
                <a:cs typeface="Inter"/>
                <a:sym typeface="Inter"/>
              </a:rPr>
              <a:t>Tối ưu kiểm thử hồi quy: Khả năng tái chạy toàn bộ bộ test ngay lập tức sau khi lập trình viên sửa lỗi, giúp xác minh mã nguồn mới không làm hỏng các luồng chức năng cũ.</a:t>
            </a:r>
          </a:p>
        </p:txBody>
      </p:sp>
      <p:sp>
        <p:nvSpPr>
          <p:cNvPr name="Freeform 4" id="4"/>
          <p:cNvSpPr/>
          <p:nvPr/>
        </p:nvSpPr>
        <p:spPr>
          <a:xfrm flipH="false" flipV="false" rot="0">
            <a:off x="9602282" y="6764922"/>
            <a:ext cx="7230469" cy="3074204"/>
          </a:xfrm>
          <a:custGeom>
            <a:avLst/>
            <a:gdLst/>
            <a:ahLst/>
            <a:cxnLst/>
            <a:rect r="r" b="b" t="t" l="l"/>
            <a:pathLst>
              <a:path h="3074204" w="7230469">
                <a:moveTo>
                  <a:pt x="0" y="0"/>
                </a:moveTo>
                <a:lnTo>
                  <a:pt x="7230469" y="0"/>
                </a:lnTo>
                <a:lnTo>
                  <a:pt x="7230469" y="3074205"/>
                </a:lnTo>
                <a:lnTo>
                  <a:pt x="0" y="3074205"/>
                </a:lnTo>
                <a:lnTo>
                  <a:pt x="0" y="0"/>
                </a:lnTo>
                <a:close/>
              </a:path>
            </a:pathLst>
          </a:custGeom>
          <a:blipFill>
            <a:blip r:embed="rId2"/>
            <a:stretch>
              <a:fillRect l="0" t="-38766" r="0" b="0"/>
            </a:stretch>
          </a:blipFill>
        </p:spPr>
      </p:sp>
      <p:sp>
        <p:nvSpPr>
          <p:cNvPr name="Freeform 5" id="5"/>
          <p:cNvSpPr/>
          <p:nvPr/>
        </p:nvSpPr>
        <p:spPr>
          <a:xfrm flipH="false" flipV="false" rot="0">
            <a:off x="9602282" y="1106731"/>
            <a:ext cx="8220848" cy="4367326"/>
          </a:xfrm>
          <a:custGeom>
            <a:avLst/>
            <a:gdLst/>
            <a:ahLst/>
            <a:cxnLst/>
            <a:rect r="r" b="b" t="t" l="l"/>
            <a:pathLst>
              <a:path h="4367326" w="8220848">
                <a:moveTo>
                  <a:pt x="0" y="0"/>
                </a:moveTo>
                <a:lnTo>
                  <a:pt x="8220848" y="0"/>
                </a:lnTo>
                <a:lnTo>
                  <a:pt x="8220848" y="4367326"/>
                </a:lnTo>
                <a:lnTo>
                  <a:pt x="0" y="4367326"/>
                </a:lnTo>
                <a:lnTo>
                  <a:pt x="0" y="0"/>
                </a:lnTo>
                <a:close/>
              </a:path>
            </a:pathLst>
          </a:custGeom>
          <a:blipFill>
            <a:blip r:embed="rId3"/>
            <a:stretch>
              <a:fillRect l="0" t="0" r="0" b="0"/>
            </a:stretch>
          </a:blipFill>
        </p:spPr>
      </p:sp>
      <p:sp>
        <p:nvSpPr>
          <p:cNvPr name="Freeform 6" id="6"/>
          <p:cNvSpPr/>
          <p:nvPr/>
        </p:nvSpPr>
        <p:spPr>
          <a:xfrm flipH="false" flipV="false" rot="0">
            <a:off x="9602282" y="5552087"/>
            <a:ext cx="8220848" cy="945398"/>
          </a:xfrm>
          <a:custGeom>
            <a:avLst/>
            <a:gdLst/>
            <a:ahLst/>
            <a:cxnLst/>
            <a:rect r="r" b="b" t="t" l="l"/>
            <a:pathLst>
              <a:path h="945398" w="8220848">
                <a:moveTo>
                  <a:pt x="0" y="0"/>
                </a:moveTo>
                <a:lnTo>
                  <a:pt x="8220848" y="0"/>
                </a:lnTo>
                <a:lnTo>
                  <a:pt x="8220848" y="945398"/>
                </a:lnTo>
                <a:lnTo>
                  <a:pt x="0" y="945398"/>
                </a:lnTo>
                <a:lnTo>
                  <a:pt x="0" y="0"/>
                </a:lnTo>
                <a:close/>
              </a:path>
            </a:pathLst>
          </a:custGeom>
          <a:blipFill>
            <a:blip r:embed="rId4"/>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656157" y="1482054"/>
            <a:ext cx="16975687" cy="4583435"/>
          </a:xfrm>
          <a:custGeom>
            <a:avLst/>
            <a:gdLst/>
            <a:ahLst/>
            <a:cxnLst/>
            <a:rect r="r" b="b" t="t" l="l"/>
            <a:pathLst>
              <a:path h="4583435" w="16975687">
                <a:moveTo>
                  <a:pt x="0" y="0"/>
                </a:moveTo>
                <a:lnTo>
                  <a:pt x="16975686" y="0"/>
                </a:lnTo>
                <a:lnTo>
                  <a:pt x="16975686" y="4583436"/>
                </a:lnTo>
                <a:lnTo>
                  <a:pt x="0" y="4583436"/>
                </a:lnTo>
                <a:lnTo>
                  <a:pt x="0" y="0"/>
                </a:lnTo>
                <a:close/>
              </a:path>
            </a:pathLst>
          </a:custGeom>
          <a:blipFill>
            <a:blip r:embed="rId2"/>
            <a:stretch>
              <a:fillRect l="0" t="0" r="0" b="0"/>
            </a:stretch>
          </a:blipFill>
        </p:spPr>
      </p:sp>
      <p:sp>
        <p:nvSpPr>
          <p:cNvPr name="TextBox 3" id="3"/>
          <p:cNvSpPr txBox="true"/>
          <p:nvPr/>
        </p:nvSpPr>
        <p:spPr>
          <a:xfrm rot="0">
            <a:off x="6703128" y="371282"/>
            <a:ext cx="4881744" cy="896356"/>
          </a:xfrm>
          <a:prstGeom prst="rect">
            <a:avLst/>
          </a:prstGeom>
        </p:spPr>
        <p:txBody>
          <a:bodyPr anchor="t" rtlCol="false" tIns="0" lIns="0" bIns="0" rIns="0">
            <a:spAutoFit/>
          </a:bodyPr>
          <a:lstStyle/>
          <a:p>
            <a:pPr algn="l">
              <a:lnSpc>
                <a:spcPts val="7010"/>
              </a:lnSpc>
            </a:pPr>
            <a:r>
              <a:rPr lang="en-US" sz="5842">
                <a:solidFill>
                  <a:srgbClr val="094850"/>
                </a:solidFill>
                <a:latin typeface="Inter"/>
                <a:ea typeface="Inter"/>
                <a:cs typeface="Inter"/>
                <a:sym typeface="Inter"/>
              </a:rPr>
              <a:t>BÁO CÁO LỖI</a:t>
            </a:r>
          </a:p>
        </p:txBody>
      </p:sp>
      <p:sp>
        <p:nvSpPr>
          <p:cNvPr name="TextBox 4" id="4"/>
          <p:cNvSpPr txBox="true"/>
          <p:nvPr/>
        </p:nvSpPr>
        <p:spPr>
          <a:xfrm rot="0">
            <a:off x="1459482" y="6255990"/>
            <a:ext cx="15369035" cy="3809083"/>
          </a:xfrm>
          <a:prstGeom prst="rect">
            <a:avLst/>
          </a:prstGeom>
        </p:spPr>
        <p:txBody>
          <a:bodyPr anchor="t" rtlCol="false" tIns="0" lIns="0" bIns="0" rIns="0">
            <a:spAutoFit/>
          </a:bodyPr>
          <a:lstStyle/>
          <a:p>
            <a:pPr algn="l">
              <a:lnSpc>
                <a:spcPts val="3018"/>
              </a:lnSpc>
            </a:pPr>
            <a:r>
              <a:rPr lang="en-US" sz="2322">
                <a:solidFill>
                  <a:srgbClr val="000000"/>
                </a:solidFill>
                <a:latin typeface="Inter"/>
                <a:ea typeface="Inter"/>
                <a:cs typeface="Inter"/>
                <a:sym typeface="Inter"/>
              </a:rPr>
              <a:t>7.2 Phân loại Bug theo</a:t>
            </a:r>
            <a:r>
              <a:rPr lang="en-US" sz="2322">
                <a:solidFill>
                  <a:srgbClr val="000000"/>
                </a:solidFill>
                <a:latin typeface="Inter"/>
                <a:ea typeface="Inter"/>
                <a:cs typeface="Inter"/>
                <a:sym typeface="Inter"/>
              </a:rPr>
              <a:t> mức độ nghiêm trọ</a:t>
            </a:r>
            <a:r>
              <a:rPr lang="en-US" sz="2322">
                <a:solidFill>
                  <a:srgbClr val="000000"/>
                </a:solidFill>
                <a:latin typeface="Inter"/>
                <a:ea typeface="Inter"/>
                <a:cs typeface="Inter"/>
                <a:sym typeface="Inter"/>
              </a:rPr>
              <a:t>ng</a:t>
            </a:r>
          </a:p>
          <a:p>
            <a:pPr algn="l" marL="501372" indent="-250686" lvl="1">
              <a:lnSpc>
                <a:spcPts val="3018"/>
              </a:lnSpc>
              <a:buFont typeface="Arial"/>
              <a:buChar char="•"/>
            </a:pPr>
            <a:r>
              <a:rPr lang="en-US" sz="2322">
                <a:solidFill>
                  <a:srgbClr val="000000"/>
                </a:solidFill>
                <a:latin typeface="Inter"/>
                <a:ea typeface="Inter"/>
                <a:cs typeface="Inter"/>
                <a:sym typeface="Inter"/>
              </a:rPr>
              <a:t>Rất nghiêm trọng: 01 Bug. Nguyên nhân do sai lệch số tiền khuyến mãi quá lớn (chênh lệch gấp 10 lần), gây thất thoát nghiêm trọng ngân sách công ty.</a:t>
            </a:r>
          </a:p>
          <a:p>
            <a:pPr algn="l" marL="501372" indent="-250686" lvl="1">
              <a:lnSpc>
                <a:spcPts val="3018"/>
              </a:lnSpc>
              <a:buFont typeface="Arial"/>
              <a:buChar char="•"/>
            </a:pPr>
            <a:r>
              <a:rPr lang="en-US" sz="2322">
                <a:solidFill>
                  <a:srgbClr val="000000"/>
                </a:solidFill>
                <a:latin typeface="Inter"/>
                <a:ea typeface="Inter"/>
                <a:cs typeface="Inter"/>
                <a:sym typeface="Inter"/>
              </a:rPr>
              <a:t>Nghiêm trọng: 03 Bug. Nguyên nhân do tính sai phụ phí và vi phạm cam kết chính sách khuyến mãi với khách hàng.</a:t>
            </a:r>
          </a:p>
          <a:p>
            <a:pPr algn="l">
              <a:lnSpc>
                <a:spcPts val="3018"/>
              </a:lnSpc>
            </a:pPr>
            <a:r>
              <a:rPr lang="en-US" sz="2322">
                <a:solidFill>
                  <a:srgbClr val="000000"/>
                </a:solidFill>
                <a:latin typeface="Inter"/>
                <a:ea typeface="Inter"/>
                <a:cs typeface="Inter"/>
                <a:sym typeface="Inter"/>
              </a:rPr>
              <a:t>7</a:t>
            </a:r>
            <a:r>
              <a:rPr lang="en-US" sz="2322">
                <a:solidFill>
                  <a:srgbClr val="000000"/>
                </a:solidFill>
                <a:latin typeface="Inter"/>
                <a:ea typeface="Inter"/>
                <a:cs typeface="Inter"/>
                <a:sym typeface="Inter"/>
              </a:rPr>
              <a:t>.3 Thống kê Bug</a:t>
            </a:r>
          </a:p>
          <a:p>
            <a:pPr algn="l" marL="501372" indent="-250686" lvl="1">
              <a:lnSpc>
                <a:spcPts val="3018"/>
              </a:lnSpc>
              <a:buFont typeface="Arial"/>
              <a:buChar char="•"/>
            </a:pPr>
            <a:r>
              <a:rPr lang="en-US" sz="2322">
                <a:solidFill>
                  <a:srgbClr val="000000"/>
                </a:solidFill>
                <a:latin typeface="Inter"/>
                <a:ea typeface="Inter"/>
                <a:cs typeface="Inter"/>
                <a:sym typeface="Inter"/>
              </a:rPr>
              <a:t>Tổng số lỗi phát hiện: 04 lỗi (trên tổng số 18 kịch bản thực thi).</a:t>
            </a:r>
          </a:p>
          <a:p>
            <a:pPr algn="l" marL="501372" indent="-250686" lvl="1">
              <a:lnSpc>
                <a:spcPts val="3018"/>
              </a:lnSpc>
              <a:buFont typeface="Arial"/>
              <a:buChar char="•"/>
            </a:pPr>
            <a:r>
              <a:rPr lang="en-US" sz="2322">
                <a:solidFill>
                  <a:srgbClr val="000000"/>
                </a:solidFill>
                <a:latin typeface="Inter"/>
                <a:ea typeface="Inter"/>
                <a:cs typeface="Inter"/>
                <a:sym typeface="Inter"/>
              </a:rPr>
              <a:t>Theo Mô-đun: Module Giảm giá (2 lỗi), Module Vận chuyển (2 lỗi).</a:t>
            </a:r>
          </a:p>
          <a:p>
            <a:pPr algn="l" marL="501372" indent="-250686" lvl="1">
              <a:lnSpc>
                <a:spcPts val="3018"/>
              </a:lnSpc>
              <a:buFont typeface="Arial"/>
              <a:buChar char="•"/>
            </a:pPr>
            <a:r>
              <a:rPr lang="en-US" sz="2322">
                <a:solidFill>
                  <a:srgbClr val="000000"/>
                </a:solidFill>
                <a:latin typeface="Inter"/>
                <a:ea typeface="Inter"/>
                <a:cs typeface="Inter"/>
                <a:sym typeface="Inter"/>
              </a:rPr>
              <a:t>Tỷ lệ phân bổ nguyên nhân: 100% lỗi phát hiện đến từ việc lập trình viên Hardcode sai hằng số bên trong các nhánh rẽ nhánh logic (if/else).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89E798"/>
        </a:solidFill>
      </p:bgPr>
    </p:bg>
    <p:spTree>
      <p:nvGrpSpPr>
        <p:cNvPr id="1" name=""/>
        <p:cNvGrpSpPr/>
        <p:nvPr/>
      </p:nvGrpSpPr>
      <p:grpSpPr>
        <a:xfrm>
          <a:off x="0" y="0"/>
          <a:ext cx="0" cy="0"/>
          <a:chOff x="0" y="0"/>
          <a:chExt cx="0" cy="0"/>
        </a:xfrm>
      </p:grpSpPr>
      <p:sp>
        <p:nvSpPr>
          <p:cNvPr name="Freeform 2" id="2"/>
          <p:cNvSpPr/>
          <p:nvPr/>
        </p:nvSpPr>
        <p:spPr>
          <a:xfrm flipH="false" flipV="false" rot="0">
            <a:off x="7366155" y="2583693"/>
            <a:ext cx="10921845" cy="5119615"/>
          </a:xfrm>
          <a:custGeom>
            <a:avLst/>
            <a:gdLst/>
            <a:ahLst/>
            <a:cxnLst/>
            <a:rect r="r" b="b" t="t" l="l"/>
            <a:pathLst>
              <a:path h="5119615" w="10921845">
                <a:moveTo>
                  <a:pt x="0" y="0"/>
                </a:moveTo>
                <a:lnTo>
                  <a:pt x="10921845" y="0"/>
                </a:lnTo>
                <a:lnTo>
                  <a:pt x="10921845" y="5119614"/>
                </a:lnTo>
                <a:lnTo>
                  <a:pt x="0" y="5119614"/>
                </a:lnTo>
                <a:lnTo>
                  <a:pt x="0" y="0"/>
                </a:lnTo>
                <a:close/>
              </a:path>
            </a:pathLst>
          </a:custGeom>
          <a:blipFill>
            <a:blip r:embed="rId2"/>
            <a:stretch>
              <a:fillRect l="0" t="0" r="0" b="0"/>
            </a:stretch>
          </a:blipFill>
        </p:spPr>
      </p:sp>
      <p:sp>
        <p:nvSpPr>
          <p:cNvPr name="TextBox 3" id="3"/>
          <p:cNvSpPr txBox="true"/>
          <p:nvPr/>
        </p:nvSpPr>
        <p:spPr>
          <a:xfrm rot="0">
            <a:off x="4685800" y="650902"/>
            <a:ext cx="8916399" cy="869896"/>
          </a:xfrm>
          <a:prstGeom prst="rect">
            <a:avLst/>
          </a:prstGeom>
        </p:spPr>
        <p:txBody>
          <a:bodyPr anchor="t" rtlCol="false" tIns="0" lIns="0" bIns="0" rIns="0">
            <a:spAutoFit/>
          </a:bodyPr>
          <a:lstStyle/>
          <a:p>
            <a:pPr algn="l">
              <a:lnSpc>
                <a:spcPts val="6500"/>
              </a:lnSpc>
            </a:pPr>
            <a:r>
              <a:rPr lang="en-US" sz="6500">
                <a:solidFill>
                  <a:srgbClr val="094850"/>
                </a:solidFill>
                <a:latin typeface="Inter"/>
                <a:ea typeface="Inter"/>
                <a:cs typeface="Inter"/>
                <a:sym typeface="Inter"/>
              </a:rPr>
              <a:t>XÁC MINH PHẦN MỀM</a:t>
            </a:r>
          </a:p>
        </p:txBody>
      </p:sp>
      <p:sp>
        <p:nvSpPr>
          <p:cNvPr name="TextBox 4" id="4"/>
          <p:cNvSpPr txBox="true"/>
          <p:nvPr/>
        </p:nvSpPr>
        <p:spPr>
          <a:xfrm rot="0">
            <a:off x="308068" y="1715138"/>
            <a:ext cx="6753232" cy="7601396"/>
          </a:xfrm>
          <a:prstGeom prst="rect">
            <a:avLst/>
          </a:prstGeom>
        </p:spPr>
        <p:txBody>
          <a:bodyPr anchor="t" rtlCol="false" tIns="0" lIns="0" bIns="0" rIns="0">
            <a:spAutoFit/>
          </a:bodyPr>
          <a:lstStyle/>
          <a:p>
            <a:pPr algn="l">
              <a:lnSpc>
                <a:spcPts val="2880"/>
              </a:lnSpc>
            </a:pPr>
            <a:r>
              <a:rPr lang="en-US" sz="2400">
                <a:solidFill>
                  <a:srgbClr val="094850"/>
                </a:solidFill>
                <a:latin typeface="Inter"/>
                <a:ea typeface="Inter"/>
                <a:cs typeface="Inter"/>
                <a:sym typeface="Inter"/>
              </a:rPr>
              <a:t>Báo cáo Checklist Review Code Thực hiện đánh giá 10 hạng mục, ghi nhận 04 hạng mục KHÔNG ĐẠT:</a:t>
            </a:r>
          </a:p>
          <a:p>
            <a:pPr algn="l" marL="518162" indent="-259081" lvl="1">
              <a:lnSpc>
                <a:spcPts val="2880"/>
              </a:lnSpc>
              <a:buFont typeface="Arial"/>
              <a:buChar char="•"/>
            </a:pPr>
            <a:r>
              <a:rPr lang="en-US" sz="2400">
                <a:solidFill>
                  <a:srgbClr val="094850"/>
                </a:solidFill>
                <a:latin typeface="Inter"/>
                <a:ea typeface="Inter"/>
                <a:cs typeface="Inter"/>
                <a:sym typeface="Inter"/>
              </a:rPr>
              <a:t>Lỗi Hardcode: Gán cứng trực tiếp các giá trị tiền tệ (15000, 50000) vào logic nhánh thay vì khai báo hằng số final.</a:t>
            </a:r>
          </a:p>
          <a:p>
            <a:pPr algn="l" marL="518162" indent="-259081" lvl="1">
              <a:lnSpc>
                <a:spcPts val="2880"/>
              </a:lnSpc>
              <a:buFont typeface="Arial"/>
              <a:buChar char="•"/>
            </a:pPr>
            <a:r>
              <a:rPr lang="en-US" sz="2400">
                <a:solidFill>
                  <a:srgbClr val="094850"/>
                </a:solidFill>
                <a:latin typeface="Inter"/>
                <a:ea typeface="Inter"/>
                <a:cs typeface="Inter"/>
                <a:sym typeface="Inter"/>
              </a:rPr>
              <a:t>Thiếu Document: Các hàm calculateDiscount và calculateShippingFee hoàn toàn thiếu Javadoc giải thích tham số.</a:t>
            </a:r>
          </a:p>
          <a:p>
            <a:pPr algn="l" marL="518162" indent="-259081" lvl="1">
              <a:lnSpc>
                <a:spcPts val="2880"/>
              </a:lnSpc>
              <a:buFont typeface="Arial"/>
              <a:buChar char="•"/>
            </a:pPr>
            <a:r>
              <a:rPr lang="en-US" sz="2400">
                <a:solidFill>
                  <a:srgbClr val="094850"/>
                </a:solidFill>
                <a:latin typeface="Inter"/>
                <a:ea typeface="Inter"/>
                <a:cs typeface="Inter"/>
                <a:sym typeface="Inter"/>
              </a:rPr>
              <a:t>Thiếu cơ chế Logging: Khi ném ngoại lệ IllegalArgumentException, hệ thống chưa ghi log hệ thống để theo dõi.</a:t>
            </a:r>
          </a:p>
          <a:p>
            <a:pPr algn="l">
              <a:lnSpc>
                <a:spcPts val="2880"/>
              </a:lnSpc>
            </a:pPr>
            <a:r>
              <a:rPr lang="en-US" sz="2400">
                <a:solidFill>
                  <a:srgbClr val="094850"/>
                </a:solidFill>
                <a:latin typeface="Inter"/>
                <a:ea typeface="Inter"/>
                <a:cs typeface="Inter"/>
                <a:sym typeface="Inter"/>
              </a:rPr>
              <a:t>Đánh giá &amp; Đề xuất cải tiến</a:t>
            </a:r>
          </a:p>
          <a:p>
            <a:pPr algn="l" marL="518162" indent="-259081" lvl="1">
              <a:lnSpc>
                <a:spcPts val="2880"/>
              </a:lnSpc>
              <a:buFont typeface="Arial"/>
              <a:buChar char="•"/>
            </a:pPr>
            <a:r>
              <a:rPr lang="en-US" sz="2400">
                <a:solidFill>
                  <a:srgbClr val="094850"/>
                </a:solidFill>
                <a:latin typeface="Inter"/>
                <a:ea typeface="Inter"/>
                <a:cs typeface="Inter"/>
                <a:sym typeface="Inter"/>
              </a:rPr>
              <a:t>Root Cause: Việc lạm dụng Hardcode chính là nguyên nhân gốc rễ gây ra các lỗi gõ nhầm hằng số ở khâu Validation.</a:t>
            </a:r>
          </a:p>
          <a:p>
            <a:pPr algn="l" marL="518162" indent="-259081" lvl="1">
              <a:lnSpc>
                <a:spcPts val="2880"/>
              </a:lnSpc>
              <a:buFont typeface="Arial"/>
              <a:buChar char="•"/>
            </a:pPr>
            <a:r>
              <a:rPr lang="en-US" sz="2400">
                <a:solidFill>
                  <a:srgbClr val="094850"/>
                </a:solidFill>
                <a:latin typeface="Inter"/>
                <a:ea typeface="Inter"/>
                <a:cs typeface="Inter"/>
                <a:sym typeface="Inter"/>
              </a:rPr>
              <a:t>Đề xuất: Tái cấu trúc mã nguồn, trích xuất toàn bộ các mốc tiền tệ thành hằng số public static final.</a:t>
            </a:r>
          </a:p>
          <a:p>
            <a:pPr algn="l">
              <a:lnSpc>
                <a:spcPts val="2880"/>
              </a:lnSpc>
            </a:pP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4245608" y="875475"/>
            <a:ext cx="10049006" cy="773483"/>
          </a:xfrm>
          <a:prstGeom prst="rect">
            <a:avLst/>
          </a:prstGeom>
        </p:spPr>
        <p:txBody>
          <a:bodyPr anchor="t" rtlCol="false" tIns="0" lIns="0" bIns="0" rIns="0">
            <a:spAutoFit/>
          </a:bodyPr>
          <a:lstStyle/>
          <a:p>
            <a:pPr algn="ctr">
              <a:lnSpc>
                <a:spcPts val="5700"/>
              </a:lnSpc>
            </a:pPr>
            <a:r>
              <a:rPr lang="en-US" sz="5700">
                <a:solidFill>
                  <a:srgbClr val="094850"/>
                </a:solidFill>
                <a:latin typeface="Inter"/>
                <a:ea typeface="Inter"/>
                <a:cs typeface="Inter"/>
                <a:sym typeface="Inter"/>
              </a:rPr>
              <a:t>DỰ TOÁN CHI PHÍ KIỂM THỬ</a:t>
            </a:r>
          </a:p>
        </p:txBody>
      </p:sp>
      <p:sp>
        <p:nvSpPr>
          <p:cNvPr name="TextBox 3" id="3"/>
          <p:cNvSpPr txBox="true"/>
          <p:nvPr/>
        </p:nvSpPr>
        <p:spPr>
          <a:xfrm rot="0">
            <a:off x="736511" y="2175024"/>
            <a:ext cx="16814977" cy="6842590"/>
          </a:xfrm>
          <a:prstGeom prst="rect">
            <a:avLst/>
          </a:prstGeom>
        </p:spPr>
        <p:txBody>
          <a:bodyPr anchor="t" rtlCol="false" tIns="0" lIns="0" bIns="0" rIns="0">
            <a:spAutoFit/>
          </a:bodyPr>
          <a:lstStyle/>
          <a:p>
            <a:pPr algn="just">
              <a:lnSpc>
                <a:spcPts val="3383"/>
              </a:lnSpc>
            </a:pPr>
            <a:r>
              <a:rPr lang="en-US" sz="2819">
                <a:solidFill>
                  <a:srgbClr val="094850"/>
                </a:solidFill>
                <a:latin typeface="Inter"/>
                <a:ea typeface="Inter"/>
                <a:cs typeface="Inter"/>
                <a:sym typeface="Inter"/>
              </a:rPr>
              <a:t>Cơ sở định giá &amp; Năng suất</a:t>
            </a:r>
          </a:p>
          <a:p>
            <a:pPr algn="just" marL="608720" indent="-304360" lvl="1">
              <a:lnSpc>
                <a:spcPts val="3383"/>
              </a:lnSpc>
              <a:buFont typeface="Arial"/>
              <a:buChar char="•"/>
            </a:pPr>
            <a:r>
              <a:rPr lang="en-US" sz="2819">
                <a:solidFill>
                  <a:srgbClr val="094850"/>
                </a:solidFill>
                <a:latin typeface="Inter"/>
                <a:ea typeface="Inter"/>
                <a:cs typeface="Inter"/>
                <a:sym typeface="Inter"/>
              </a:rPr>
              <a:t>Đơn giá nhân sự (QA/Tester): 500.000 VNĐ / giờ.</a:t>
            </a:r>
          </a:p>
          <a:p>
            <a:pPr algn="just" marL="608720" indent="-304360" lvl="1">
              <a:lnSpc>
                <a:spcPts val="3383"/>
              </a:lnSpc>
              <a:buFont typeface="Arial"/>
              <a:buChar char="•"/>
            </a:pPr>
            <a:r>
              <a:rPr lang="en-US" sz="2819">
                <a:solidFill>
                  <a:srgbClr val="094850"/>
                </a:solidFill>
                <a:latin typeface="Inter"/>
                <a:ea typeface="Inter"/>
                <a:cs typeface="Inter"/>
                <a:sym typeface="Inter"/>
              </a:rPr>
              <a:t>Quy đổi Agile: 1 Giờ làm việc = 1</a:t>
            </a:r>
            <a:r>
              <a:rPr lang="en-US" sz="2819">
                <a:solidFill>
                  <a:srgbClr val="094850"/>
                </a:solidFill>
                <a:latin typeface="Inter"/>
                <a:ea typeface="Inter"/>
                <a:cs typeface="Inter"/>
                <a:sym typeface="Inter"/>
              </a:rPr>
              <a:t> Story Point.</a:t>
            </a:r>
          </a:p>
          <a:p>
            <a:pPr algn="just">
              <a:lnSpc>
                <a:spcPts val="3383"/>
              </a:lnSpc>
            </a:pPr>
            <a:r>
              <a:rPr lang="en-US" sz="2819">
                <a:solidFill>
                  <a:srgbClr val="094850"/>
                </a:solidFill>
                <a:latin typeface="Inter"/>
                <a:ea typeface="Inter"/>
                <a:cs typeface="Inter"/>
                <a:sym typeface="Inter"/>
              </a:rPr>
              <a:t>Dự toán xác minh tĩnh (Verification - Review Code)</a:t>
            </a:r>
          </a:p>
          <a:p>
            <a:pPr algn="just" marL="608720" indent="-304360" lvl="1">
              <a:lnSpc>
                <a:spcPts val="3383"/>
              </a:lnSpc>
              <a:buFont typeface="Arial"/>
              <a:buChar char="•"/>
            </a:pPr>
            <a:r>
              <a:rPr lang="en-US" sz="2819">
                <a:solidFill>
                  <a:srgbClr val="094850"/>
                </a:solidFill>
                <a:latin typeface="Inter"/>
                <a:ea typeface="Inter"/>
                <a:cs typeface="Inter"/>
                <a:sym typeface="Inter"/>
              </a:rPr>
              <a:t>Khối lượng</a:t>
            </a:r>
            <a:r>
              <a:rPr lang="en-US" sz="2819">
                <a:solidFill>
                  <a:srgbClr val="094850"/>
                </a:solidFill>
                <a:latin typeface="Inter"/>
                <a:ea typeface="Inter"/>
                <a:cs typeface="Inter"/>
                <a:sym typeface="Inter"/>
              </a:rPr>
              <a:t>: Rà soát 17 tiêu chí (Logic, Cấu trúc, An toàn, Quy trình).</a:t>
            </a:r>
          </a:p>
          <a:p>
            <a:pPr algn="just" marL="608720" indent="-304360" lvl="1">
              <a:lnSpc>
                <a:spcPts val="3383"/>
              </a:lnSpc>
              <a:buFont typeface="Arial"/>
              <a:buChar char="•"/>
            </a:pPr>
            <a:r>
              <a:rPr lang="en-US" sz="2819">
                <a:solidFill>
                  <a:srgbClr val="094850"/>
                </a:solidFill>
                <a:latin typeface="Inter"/>
                <a:ea typeface="Inter"/>
                <a:cs typeface="Inter"/>
                <a:sym typeface="Inter"/>
              </a:rPr>
              <a:t>Thời gian thực thi: 1.0 Giờ (Tương đương 1 SP).</a:t>
            </a:r>
          </a:p>
          <a:p>
            <a:pPr algn="just" marL="608720" indent="-304360" lvl="1">
              <a:lnSpc>
                <a:spcPts val="3383"/>
              </a:lnSpc>
              <a:buFont typeface="Arial"/>
              <a:buChar char="•"/>
            </a:pPr>
            <a:r>
              <a:rPr lang="en-US" sz="2819">
                <a:solidFill>
                  <a:srgbClr val="094850"/>
                </a:solidFill>
                <a:latin typeface="Inter"/>
                <a:ea typeface="Inter"/>
                <a:cs typeface="Inter"/>
                <a:sym typeface="Inter"/>
              </a:rPr>
              <a:t>Ngân sách ước tính: 1 Giờ × 500.000đ = 500.000 VNĐ.</a:t>
            </a:r>
          </a:p>
          <a:p>
            <a:pPr algn="just">
              <a:lnSpc>
                <a:spcPts val="3383"/>
              </a:lnSpc>
            </a:pPr>
            <a:r>
              <a:rPr lang="en-US" sz="2819">
                <a:solidFill>
                  <a:srgbClr val="094850"/>
                </a:solidFill>
                <a:latin typeface="Inter"/>
                <a:ea typeface="Inter"/>
                <a:cs typeface="Inter"/>
                <a:sym typeface="Inter"/>
              </a:rPr>
              <a:t>Dự toán kiểm thử động (Validation - Automation Test)</a:t>
            </a:r>
          </a:p>
          <a:p>
            <a:pPr algn="just" marL="608720" indent="-304360" lvl="1">
              <a:lnSpc>
                <a:spcPts val="3383"/>
              </a:lnSpc>
              <a:buFont typeface="Arial"/>
              <a:buChar char="•"/>
            </a:pPr>
            <a:r>
              <a:rPr lang="en-US" sz="2819">
                <a:solidFill>
                  <a:srgbClr val="094850"/>
                </a:solidFill>
                <a:latin typeface="Inter"/>
                <a:ea typeface="Inter"/>
                <a:cs typeface="Inter"/>
                <a:sym typeface="Inter"/>
              </a:rPr>
              <a:t>Khối lượng: Thiết kế, code và chạy tự động 17 kịch bản.</a:t>
            </a:r>
          </a:p>
          <a:p>
            <a:pPr algn="just" marL="608720" indent="-304360" lvl="1">
              <a:lnSpc>
                <a:spcPts val="3383"/>
              </a:lnSpc>
              <a:buFont typeface="Arial"/>
              <a:buChar char="•"/>
            </a:pPr>
            <a:r>
              <a:rPr lang="en-US" sz="2819">
                <a:solidFill>
                  <a:srgbClr val="094850"/>
                </a:solidFill>
                <a:latin typeface="Inter"/>
                <a:ea typeface="Inter"/>
                <a:cs typeface="Inter"/>
                <a:sym typeface="Inter"/>
              </a:rPr>
              <a:t>Thời gian thực thi: 6.0 Giờ (Tương đương 6 SP).</a:t>
            </a:r>
          </a:p>
          <a:p>
            <a:pPr algn="just" marL="608720" indent="-304360" lvl="1">
              <a:lnSpc>
                <a:spcPts val="3383"/>
              </a:lnSpc>
              <a:buFont typeface="Arial"/>
              <a:buChar char="•"/>
            </a:pPr>
            <a:r>
              <a:rPr lang="en-US" sz="2819">
                <a:solidFill>
                  <a:srgbClr val="094850"/>
                </a:solidFill>
                <a:latin typeface="Inter"/>
                <a:ea typeface="Inter"/>
                <a:cs typeface="Inter"/>
                <a:sym typeface="Inter"/>
              </a:rPr>
              <a:t>Ngân sách ước tính: 6 Giờ × 500.000đ = 3.000.000 VNĐ.</a:t>
            </a:r>
          </a:p>
          <a:p>
            <a:pPr algn="just">
              <a:lnSpc>
                <a:spcPts val="3383"/>
              </a:lnSpc>
            </a:pPr>
            <a:r>
              <a:rPr lang="en-US" sz="2819">
                <a:solidFill>
                  <a:srgbClr val="094850"/>
                </a:solidFill>
                <a:latin typeface="Inter"/>
                <a:ea typeface="Inter"/>
                <a:cs typeface="Inter"/>
                <a:sym typeface="Inter"/>
              </a:rPr>
              <a:t>Tổng kết hiệu quả đầu tư (ROI)</a:t>
            </a:r>
          </a:p>
          <a:p>
            <a:pPr algn="just" marL="608720" indent="-304360" lvl="1">
              <a:lnSpc>
                <a:spcPts val="3383"/>
              </a:lnSpc>
              <a:buFont typeface="Arial"/>
              <a:buChar char="•"/>
            </a:pPr>
            <a:r>
              <a:rPr lang="en-US" sz="2819">
                <a:solidFill>
                  <a:srgbClr val="094850"/>
                </a:solidFill>
                <a:latin typeface="Inter"/>
                <a:ea typeface="Inter"/>
                <a:cs typeface="Inter"/>
                <a:sym typeface="Inter"/>
              </a:rPr>
              <a:t>Tổng chi phí toàn bộ dự án QA: 3.500.000 VNĐ (Tổng thời gian: 7 Giờ làm việc).</a:t>
            </a:r>
          </a:p>
          <a:p>
            <a:pPr algn="just" marL="608720" indent="-304360" lvl="1">
              <a:lnSpc>
                <a:spcPts val="3383"/>
              </a:lnSpc>
              <a:buFont typeface="Arial"/>
              <a:buChar char="•"/>
            </a:pPr>
            <a:r>
              <a:rPr lang="en-US" sz="2819">
                <a:solidFill>
                  <a:srgbClr val="094850"/>
                </a:solidFill>
                <a:latin typeface="Inter"/>
                <a:ea typeface="Inter"/>
                <a:cs typeface="Inter"/>
                <a:sym typeface="Inter"/>
              </a:rPr>
              <a:t>Giá trị mang lại: Chỉ với chi phí bằng một ngày công của Tester, dự án đã phát hiện và chặn đứng 4 lỗi nghiêm trọng, bảo vệ thành công hàng trăm triệu đồng khỏi nguy cơ thất thoát do lỗi phần mềm.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89E798"/>
        </a:solidFill>
      </p:bgPr>
    </p:bg>
    <p:spTree>
      <p:nvGrpSpPr>
        <p:cNvPr id="1" name=""/>
        <p:cNvGrpSpPr/>
        <p:nvPr/>
      </p:nvGrpSpPr>
      <p:grpSpPr>
        <a:xfrm>
          <a:off x="0" y="0"/>
          <a:ext cx="0" cy="0"/>
          <a:chOff x="0" y="0"/>
          <a:chExt cx="0" cy="0"/>
        </a:xfrm>
      </p:grpSpPr>
      <p:sp>
        <p:nvSpPr>
          <p:cNvPr name="TextBox 2" id="2"/>
          <p:cNvSpPr txBox="true"/>
          <p:nvPr/>
        </p:nvSpPr>
        <p:spPr>
          <a:xfrm rot="0">
            <a:off x="709488" y="5133975"/>
            <a:ext cx="16869025" cy="4399822"/>
          </a:xfrm>
          <a:prstGeom prst="rect">
            <a:avLst/>
          </a:prstGeom>
        </p:spPr>
        <p:txBody>
          <a:bodyPr anchor="t" rtlCol="false" tIns="0" lIns="0" bIns="0" rIns="0">
            <a:spAutoFit/>
          </a:bodyPr>
          <a:lstStyle/>
          <a:p>
            <a:pPr algn="just">
              <a:lnSpc>
                <a:spcPts val="2423"/>
              </a:lnSpc>
            </a:pPr>
            <a:r>
              <a:rPr lang="en-US" sz="2019" b="true">
                <a:solidFill>
                  <a:srgbClr val="094850"/>
                </a:solidFill>
                <a:latin typeface="Inter Bold"/>
                <a:ea typeface="Inter Bold"/>
                <a:cs typeface="Inter Bold"/>
                <a:sym typeface="Inter Bold"/>
              </a:rPr>
              <a:t>Đánh giá chất lượng Module OrderService</a:t>
            </a:r>
          </a:p>
          <a:p>
            <a:pPr algn="just" marL="457594" indent="-228797" lvl="1">
              <a:lnSpc>
                <a:spcPts val="2543"/>
              </a:lnSpc>
              <a:buFont typeface="Arial"/>
              <a:buChar char="•"/>
            </a:pPr>
            <a:r>
              <a:rPr lang="en-US" sz="2119">
                <a:solidFill>
                  <a:srgbClr val="094850"/>
                </a:solidFill>
                <a:latin typeface="Inter"/>
                <a:ea typeface="Inter"/>
                <a:cs typeface="Inter"/>
                <a:sym typeface="Inter"/>
              </a:rPr>
              <a:t>Trạ</a:t>
            </a:r>
            <a:r>
              <a:rPr lang="en-US" sz="2119">
                <a:solidFill>
                  <a:srgbClr val="094850"/>
                </a:solidFill>
                <a:latin typeface="Inter"/>
                <a:ea typeface="Inter"/>
                <a:cs typeface="Inter"/>
                <a:sym typeface="Inter"/>
              </a:rPr>
              <a:t>ng thái: Không đạt chuẩn để phát hành.</a:t>
            </a:r>
          </a:p>
          <a:p>
            <a:pPr algn="just" marL="457594" indent="-228797" lvl="1">
              <a:lnSpc>
                <a:spcPts val="2543"/>
              </a:lnSpc>
              <a:buFont typeface="Arial"/>
              <a:buChar char="•"/>
            </a:pPr>
            <a:r>
              <a:rPr lang="en-US" sz="2119">
                <a:solidFill>
                  <a:srgbClr val="094850"/>
                </a:solidFill>
                <a:latin typeface="Inter"/>
                <a:ea typeface="Inter"/>
                <a:cs typeface="Inter"/>
                <a:sym typeface="Inter"/>
              </a:rPr>
              <a:t>Đánh giá: Thuật toán xử lý nhanh O(1)</a:t>
            </a:r>
            <a:r>
              <a:rPr lang="en-US" sz="2119">
                <a:solidFill>
                  <a:srgbClr val="094850"/>
                </a:solidFill>
                <a:latin typeface="Inter"/>
                <a:ea typeface="Inter"/>
                <a:cs typeface="Inter"/>
                <a:sym typeface="Inter"/>
              </a:rPr>
              <a:t>. Việc lạm dụng gán cứng các con số vào code khiến hệ thống cực</a:t>
            </a:r>
            <a:r>
              <a:rPr lang="en-US" sz="2119">
                <a:solidFill>
                  <a:srgbClr val="094850"/>
                </a:solidFill>
                <a:latin typeface="Inter"/>
                <a:ea typeface="Inter"/>
                <a:cs typeface="Inter"/>
                <a:sym typeface="Inter"/>
              </a:rPr>
              <a:t> kỳ dễ phát sinh lỗi do Gõ nhầm số.</a:t>
            </a:r>
          </a:p>
          <a:p>
            <a:pPr algn="just">
              <a:lnSpc>
                <a:spcPts val="2543"/>
              </a:lnSpc>
            </a:pPr>
            <a:r>
              <a:rPr lang="en-US" b="true" sz="2119">
                <a:solidFill>
                  <a:srgbClr val="094850"/>
                </a:solidFill>
                <a:latin typeface="Inter Bold"/>
                <a:ea typeface="Inter Bold"/>
                <a:cs typeface="Inter Bold"/>
                <a:sym typeface="Inter Bold"/>
              </a:rPr>
              <a:t>Những gì nhóm làm được / Chưa làm được</a:t>
            </a:r>
          </a:p>
          <a:p>
            <a:pPr algn="just" marL="457594" indent="-228797" lvl="1">
              <a:lnSpc>
                <a:spcPts val="2543"/>
              </a:lnSpc>
              <a:buFont typeface="Arial"/>
              <a:buChar char="•"/>
            </a:pPr>
            <a:r>
              <a:rPr lang="en-US" sz="2119">
                <a:solidFill>
                  <a:srgbClr val="094850"/>
                </a:solidFill>
                <a:latin typeface="Inter"/>
                <a:ea typeface="Inter"/>
                <a:cs typeface="Inter"/>
                <a:sym typeface="Inter"/>
              </a:rPr>
              <a:t>Làm được: Chứng minh được mối liên hệ mật thiết giữa Verification và Testing; Tự động hóa 100% kịch bản; Dự toán chi phí chuẩn Agile.</a:t>
            </a:r>
          </a:p>
          <a:p>
            <a:pPr algn="just" marL="457594" indent="-228797" lvl="1">
              <a:lnSpc>
                <a:spcPts val="2543"/>
              </a:lnSpc>
              <a:buFont typeface="Arial"/>
              <a:buChar char="•"/>
            </a:pPr>
            <a:r>
              <a:rPr lang="en-US" sz="2119">
                <a:solidFill>
                  <a:srgbClr val="094850"/>
                </a:solidFill>
                <a:latin typeface="Inter"/>
                <a:ea typeface="Inter"/>
                <a:cs typeface="Inter"/>
                <a:sym typeface="Inter"/>
              </a:rPr>
              <a:t>Chưa làm được: Mới giới hạn ở Kiểm thử hộp trắng (Unit Test), chưa đánh giá được hiệu năng khi hệ thống chịu tải cao.</a:t>
            </a:r>
          </a:p>
          <a:p>
            <a:pPr algn="just">
              <a:lnSpc>
                <a:spcPts val="2543"/>
              </a:lnSpc>
            </a:pPr>
            <a:r>
              <a:rPr lang="en-US" b="true" sz="2119">
                <a:solidFill>
                  <a:srgbClr val="094850"/>
                </a:solidFill>
                <a:latin typeface="Inter Bold"/>
                <a:ea typeface="Inter Bold"/>
                <a:cs typeface="Inter Bold"/>
                <a:sym typeface="Inter Bold"/>
              </a:rPr>
              <a:t>Bài học kinh nghiệm</a:t>
            </a:r>
          </a:p>
          <a:p>
            <a:pPr algn="just" marL="457594" indent="-228797" lvl="1">
              <a:lnSpc>
                <a:spcPts val="2543"/>
              </a:lnSpc>
              <a:buFont typeface="Arial"/>
              <a:buChar char="•"/>
            </a:pPr>
            <a:r>
              <a:rPr lang="en-US" sz="2119">
                <a:solidFill>
                  <a:srgbClr val="094850"/>
                </a:solidFill>
                <a:latin typeface="Inter"/>
                <a:ea typeface="Inter"/>
                <a:cs typeface="Inter"/>
                <a:sym typeface="Inter"/>
              </a:rPr>
              <a:t>"Phòng bệnh rẻ hơn chữa bệnh": Áp dụng Verification sớm giúp tìm lỗi với chi phí chỉ bằng 1/6 so với Testing.</a:t>
            </a:r>
          </a:p>
          <a:p>
            <a:pPr algn="just" marL="457594" indent="-228797" lvl="1">
              <a:lnSpc>
                <a:spcPts val="2543"/>
              </a:lnSpc>
              <a:buFont typeface="Arial"/>
              <a:buChar char="•"/>
            </a:pPr>
            <a:r>
              <a:rPr lang="en-US" sz="2119">
                <a:solidFill>
                  <a:srgbClr val="094850"/>
                </a:solidFill>
                <a:latin typeface="Inter"/>
                <a:ea typeface="Inter"/>
                <a:cs typeface="Inter"/>
                <a:sym typeface="Inter"/>
              </a:rPr>
              <a:t>Sự bổ trợ hoàn hảo: Verification rà soát quy chuẩn, Testing chứng minh hậu quả. Không thể bỏ qua 1 trong 2.</a:t>
            </a:r>
          </a:p>
          <a:p>
            <a:pPr algn="just">
              <a:lnSpc>
                <a:spcPts val="2543"/>
              </a:lnSpc>
            </a:pPr>
            <a:r>
              <a:rPr lang="en-US" b="true" sz="2119">
                <a:solidFill>
                  <a:srgbClr val="094850"/>
                </a:solidFill>
                <a:latin typeface="Inter Bold"/>
                <a:ea typeface="Inter Bold"/>
                <a:cs typeface="Inter Bold"/>
                <a:sym typeface="Inter Bold"/>
              </a:rPr>
              <a:t>Đề xuất cải tiến</a:t>
            </a:r>
          </a:p>
          <a:p>
            <a:pPr algn="just" marL="457594" indent="-228797" lvl="1">
              <a:lnSpc>
                <a:spcPts val="2543"/>
              </a:lnSpc>
              <a:buFont typeface="Arial"/>
              <a:buChar char="•"/>
            </a:pPr>
            <a:r>
              <a:rPr lang="en-US" sz="2119">
                <a:solidFill>
                  <a:srgbClr val="094850"/>
                </a:solidFill>
                <a:latin typeface="Inter"/>
                <a:ea typeface="Inter"/>
                <a:cs typeface="Inter"/>
                <a:sym typeface="Inter"/>
              </a:rPr>
              <a:t>Ứng dụng: Refactor toàn bộ Class, trích xuất các mốc tiền tệ thành hằng số.</a:t>
            </a:r>
          </a:p>
          <a:p>
            <a:pPr algn="just" marL="457594" indent="-228797" lvl="1">
              <a:lnSpc>
                <a:spcPts val="2543"/>
              </a:lnSpc>
              <a:buFont typeface="Arial"/>
              <a:buChar char="•"/>
            </a:pPr>
            <a:r>
              <a:rPr lang="en-US" sz="2119">
                <a:solidFill>
                  <a:srgbClr val="094850"/>
                </a:solidFill>
                <a:latin typeface="Inter"/>
                <a:ea typeface="Inter"/>
                <a:cs typeface="Inter"/>
                <a:sym typeface="Inter"/>
              </a:rPr>
              <a:t>Quy trình: Bắt buộc phải Review Code (Verification) đạt Pass 100% Checklist rồi mới được đẩy sang chạy Automation Testing.</a:t>
            </a:r>
          </a:p>
        </p:txBody>
      </p:sp>
      <p:graphicFrame>
        <p:nvGraphicFramePr>
          <p:cNvPr name="Object 3" id="3"/>
          <p:cNvGraphicFramePr/>
          <p:nvPr/>
        </p:nvGraphicFramePr>
        <p:xfrm>
          <a:off x="3155554" y="1463341"/>
          <a:ext cx="9429750" cy="3771900"/>
        </p:xfrm>
        <a:graphic>
          <a:graphicData uri="http://schemas.openxmlformats.org/presentationml/2006/ole">
            <p:oleObj imgW="11315700" imgH="5651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4" id="4"/>
          <p:cNvSpPr txBox="true"/>
          <p:nvPr/>
        </p:nvSpPr>
        <p:spPr>
          <a:xfrm rot="0">
            <a:off x="4904885" y="469710"/>
            <a:ext cx="8478229" cy="799022"/>
          </a:xfrm>
          <a:prstGeom prst="rect">
            <a:avLst/>
          </a:prstGeom>
        </p:spPr>
        <p:txBody>
          <a:bodyPr anchor="t" rtlCol="false" tIns="0" lIns="0" bIns="0" rIns="0">
            <a:spAutoFit/>
          </a:bodyPr>
          <a:lstStyle/>
          <a:p>
            <a:pPr algn="l">
              <a:lnSpc>
                <a:spcPts val="5906"/>
              </a:lnSpc>
            </a:pPr>
            <a:r>
              <a:rPr lang="en-US" sz="5906">
                <a:solidFill>
                  <a:srgbClr val="094850"/>
                </a:solidFill>
                <a:latin typeface="Inter"/>
                <a:ea typeface="Inter"/>
                <a:cs typeface="Inter"/>
                <a:sym typeface="Inter"/>
              </a:rPr>
              <a:t>TỔNG KẾT &amp; ĐÁNH GIÁ</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DAHESfeJoI4</dc:identifier>
  <dcterms:modified xsi:type="dcterms:W3CDTF">2011-08-01T06:04:30Z</dcterms:modified>
  <cp:revision>1</cp:revision>
  <dc:title>Bản sao của GK môn testing</dc:title>
</cp:coreProperties>
</file>