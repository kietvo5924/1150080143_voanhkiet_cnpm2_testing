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18288000" cy="10287000"/>
  <p:notesSz cx="6858000" cy="9144000"/>
  <p:embeddedFontLst>
    <p:embeddedFont>
      <p:font typeface="Inter" panose="020B0604020202020204" charset="0"/>
      <p:regular r:id="rId12"/>
    </p:embeddedFont>
    <p:embeddedFont>
      <p:font typeface="Inter Bold" panose="020B0604020202020204" charset="0"/>
      <p:regular r:id="rId1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0" d="100"/>
          <a:sy n="70" d="100"/>
        </p:scale>
        <p:origin x="774" y="8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oleObject" Target="../embeddings/oleObject1.bin"/><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9E798"/>
        </a:solidFill>
        <a:effectLst/>
      </p:bgPr>
    </p:bg>
    <p:spTree>
      <p:nvGrpSpPr>
        <p:cNvPr id="1" name=""/>
        <p:cNvGrpSpPr/>
        <p:nvPr/>
      </p:nvGrpSpPr>
      <p:grpSpPr>
        <a:xfrm>
          <a:off x="0" y="0"/>
          <a:ext cx="0" cy="0"/>
          <a:chOff x="0" y="0"/>
          <a:chExt cx="0" cy="0"/>
        </a:xfrm>
      </p:grpSpPr>
      <p:sp>
        <p:nvSpPr>
          <p:cNvPr id="2" name="Freeform 2"/>
          <p:cNvSpPr/>
          <p:nvPr/>
        </p:nvSpPr>
        <p:spPr>
          <a:xfrm>
            <a:off x="10978187" y="5272487"/>
            <a:ext cx="5775851" cy="4358142"/>
          </a:xfrm>
          <a:custGeom>
            <a:avLst/>
            <a:gdLst/>
            <a:ahLst/>
            <a:cxnLst/>
            <a:rect l="l" t="t" r="r" b="b"/>
            <a:pathLst>
              <a:path w="5775851" h="4358142">
                <a:moveTo>
                  <a:pt x="0" y="0"/>
                </a:moveTo>
                <a:lnTo>
                  <a:pt x="5775850" y="0"/>
                </a:lnTo>
                <a:lnTo>
                  <a:pt x="5775850" y="4358142"/>
                </a:lnTo>
                <a:lnTo>
                  <a:pt x="0" y="435814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a:off x="1267905" y="330922"/>
            <a:ext cx="1395557" cy="1395557"/>
          </a:xfrm>
          <a:custGeom>
            <a:avLst/>
            <a:gdLst/>
            <a:ahLst/>
            <a:cxnLst/>
            <a:rect l="l" t="t" r="r" b="b"/>
            <a:pathLst>
              <a:path w="1395557" h="1395557">
                <a:moveTo>
                  <a:pt x="0" y="0"/>
                </a:moveTo>
                <a:lnTo>
                  <a:pt x="1395557" y="0"/>
                </a:lnTo>
                <a:lnTo>
                  <a:pt x="1395557" y="1395556"/>
                </a:lnTo>
                <a:lnTo>
                  <a:pt x="0" y="1395556"/>
                </a:lnTo>
                <a:lnTo>
                  <a:pt x="0" y="0"/>
                </a:lnTo>
                <a:close/>
              </a:path>
            </a:pathLst>
          </a:custGeom>
          <a:blipFill>
            <a:blip r:embed="rId4"/>
            <a:stretch>
              <a:fillRect/>
            </a:stretch>
          </a:blipFill>
        </p:spPr>
        <p:txBody>
          <a:bodyPr/>
          <a:lstStyle/>
          <a:p>
            <a:endParaRPr lang="en-US"/>
          </a:p>
        </p:txBody>
      </p:sp>
      <p:sp>
        <p:nvSpPr>
          <p:cNvPr id="4" name="TextBox 4"/>
          <p:cNvSpPr txBox="1"/>
          <p:nvPr/>
        </p:nvSpPr>
        <p:spPr>
          <a:xfrm>
            <a:off x="1267905" y="6736037"/>
            <a:ext cx="8440063" cy="2522263"/>
          </a:xfrm>
          <a:prstGeom prst="rect">
            <a:avLst/>
          </a:prstGeom>
        </p:spPr>
        <p:txBody>
          <a:bodyPr lIns="0" tIns="0" rIns="0" bIns="0" rtlCol="0" anchor="t">
            <a:spAutoFit/>
          </a:bodyPr>
          <a:lstStyle/>
          <a:p>
            <a:pPr algn="l">
              <a:lnSpc>
                <a:spcPts val="4025"/>
              </a:lnSpc>
            </a:pPr>
            <a:r>
              <a:rPr lang="en-US" sz="2875">
                <a:solidFill>
                  <a:srgbClr val="000000"/>
                </a:solidFill>
                <a:latin typeface="Inter"/>
                <a:ea typeface="Inter"/>
                <a:cs typeface="Inter"/>
                <a:sym typeface="Inter"/>
              </a:rPr>
              <a:t>Giảng viên hướng dẫn:  </a:t>
            </a:r>
            <a:r>
              <a:rPr lang="en-US" sz="2875" b="1">
                <a:solidFill>
                  <a:srgbClr val="000000"/>
                </a:solidFill>
                <a:latin typeface="Inter Bold"/>
                <a:ea typeface="Inter Bold"/>
                <a:cs typeface="Inter Bold"/>
                <a:sym typeface="Inter Bold"/>
              </a:rPr>
              <a:t>ThS. Phạm Trọng Huynh</a:t>
            </a:r>
          </a:p>
          <a:p>
            <a:pPr algn="l">
              <a:lnSpc>
                <a:spcPts val="4025"/>
              </a:lnSpc>
            </a:pPr>
            <a:r>
              <a:rPr lang="en-US" sz="2875">
                <a:solidFill>
                  <a:srgbClr val="000000"/>
                </a:solidFill>
                <a:latin typeface="Inter"/>
                <a:ea typeface="Inter"/>
                <a:cs typeface="Inter"/>
                <a:sym typeface="Inter"/>
              </a:rPr>
              <a:t>Sinh viên thực hiện:      </a:t>
            </a:r>
            <a:r>
              <a:rPr lang="en-US" sz="2875" b="1">
                <a:solidFill>
                  <a:srgbClr val="000000"/>
                </a:solidFill>
                <a:latin typeface="Inter Bold"/>
                <a:ea typeface="Inter Bold"/>
                <a:cs typeface="Inter Bold"/>
                <a:sym typeface="Inter Bold"/>
              </a:rPr>
              <a:t>Võ Anh Kiệt</a:t>
            </a:r>
          </a:p>
          <a:p>
            <a:pPr algn="l">
              <a:lnSpc>
                <a:spcPts val="4025"/>
              </a:lnSpc>
            </a:pPr>
            <a:r>
              <a:rPr lang="en-US" sz="2875">
                <a:solidFill>
                  <a:srgbClr val="000000"/>
                </a:solidFill>
                <a:latin typeface="Inter"/>
                <a:ea typeface="Inter"/>
                <a:cs typeface="Inter"/>
                <a:sym typeface="Inter"/>
              </a:rPr>
              <a:t>Mã số sinh viên:            </a:t>
            </a:r>
            <a:r>
              <a:rPr lang="en-US" sz="2875" b="1">
                <a:solidFill>
                  <a:srgbClr val="000000"/>
                </a:solidFill>
                <a:latin typeface="Inter Bold"/>
                <a:ea typeface="Inter Bold"/>
                <a:cs typeface="Inter Bold"/>
                <a:sym typeface="Inter Bold"/>
              </a:rPr>
              <a:t>1150080143</a:t>
            </a:r>
          </a:p>
          <a:p>
            <a:pPr algn="l">
              <a:lnSpc>
                <a:spcPts val="4025"/>
              </a:lnSpc>
            </a:pPr>
            <a:r>
              <a:rPr lang="en-US" sz="2875">
                <a:solidFill>
                  <a:srgbClr val="000000"/>
                </a:solidFill>
                <a:latin typeface="Inter"/>
                <a:ea typeface="Inter"/>
                <a:cs typeface="Inter"/>
                <a:sym typeface="Inter"/>
              </a:rPr>
              <a:t>Lớp:                             </a:t>
            </a:r>
            <a:r>
              <a:rPr lang="en-US" sz="2875" b="1">
                <a:solidFill>
                  <a:srgbClr val="000000"/>
                </a:solidFill>
                <a:latin typeface="Inter Bold"/>
                <a:ea typeface="Inter Bold"/>
                <a:cs typeface="Inter Bold"/>
                <a:sym typeface="Inter Bold"/>
              </a:rPr>
              <a:t>   11_ĐH_CNPM2</a:t>
            </a:r>
          </a:p>
          <a:p>
            <a:pPr algn="l">
              <a:lnSpc>
                <a:spcPts val="4025"/>
              </a:lnSpc>
            </a:pPr>
            <a:r>
              <a:rPr lang="en-US" sz="2875">
                <a:solidFill>
                  <a:srgbClr val="000000"/>
                </a:solidFill>
                <a:latin typeface="Inter"/>
                <a:ea typeface="Inter"/>
                <a:cs typeface="Inter"/>
                <a:sym typeface="Inter"/>
              </a:rPr>
              <a:t>Khoá:                              </a:t>
            </a:r>
            <a:r>
              <a:rPr lang="en-US" sz="2875" b="1">
                <a:solidFill>
                  <a:srgbClr val="000000"/>
                </a:solidFill>
                <a:latin typeface="Inter Bold"/>
                <a:ea typeface="Inter Bold"/>
                <a:cs typeface="Inter Bold"/>
                <a:sym typeface="Inter Bold"/>
              </a:rPr>
              <a:t>2022-2026</a:t>
            </a:r>
          </a:p>
        </p:txBody>
      </p:sp>
      <p:grpSp>
        <p:nvGrpSpPr>
          <p:cNvPr id="5" name="Group 5"/>
          <p:cNvGrpSpPr/>
          <p:nvPr/>
        </p:nvGrpSpPr>
        <p:grpSpPr>
          <a:xfrm>
            <a:off x="1533963" y="2592431"/>
            <a:ext cx="15220075" cy="2220150"/>
            <a:chOff x="0" y="0"/>
            <a:chExt cx="20293433" cy="2960200"/>
          </a:xfrm>
        </p:grpSpPr>
        <p:sp>
          <p:nvSpPr>
            <p:cNvPr id="6" name="TextBox 6"/>
            <p:cNvSpPr txBox="1"/>
            <p:nvPr/>
          </p:nvSpPr>
          <p:spPr>
            <a:xfrm>
              <a:off x="0" y="133350"/>
              <a:ext cx="20293433" cy="1255784"/>
            </a:xfrm>
            <a:prstGeom prst="rect">
              <a:avLst/>
            </a:prstGeom>
          </p:spPr>
          <p:txBody>
            <a:bodyPr lIns="0" tIns="0" rIns="0" bIns="0" rtlCol="0" anchor="t">
              <a:spAutoFit/>
            </a:bodyPr>
            <a:lstStyle/>
            <a:p>
              <a:pPr algn="ctr">
                <a:lnSpc>
                  <a:spcPts val="6892"/>
                </a:lnSpc>
              </a:pPr>
              <a:r>
                <a:rPr lang="en-US" sz="6892">
                  <a:solidFill>
                    <a:srgbClr val="000000"/>
                  </a:solidFill>
                  <a:latin typeface="Inter"/>
                  <a:ea typeface="Inter"/>
                  <a:cs typeface="Inter"/>
                  <a:sym typeface="Inter"/>
                </a:rPr>
                <a:t>Báo cáo giữa kỳ</a:t>
              </a:r>
            </a:p>
          </p:txBody>
        </p:sp>
        <p:sp>
          <p:nvSpPr>
            <p:cNvPr id="7" name="TextBox 7"/>
            <p:cNvSpPr txBox="1"/>
            <p:nvPr/>
          </p:nvSpPr>
          <p:spPr>
            <a:xfrm>
              <a:off x="0" y="2198177"/>
              <a:ext cx="20142751" cy="762022"/>
            </a:xfrm>
            <a:prstGeom prst="rect">
              <a:avLst/>
            </a:prstGeom>
          </p:spPr>
          <p:txBody>
            <a:bodyPr lIns="0" tIns="0" rIns="0" bIns="0" rtlCol="0" anchor="t">
              <a:spAutoFit/>
            </a:bodyPr>
            <a:lstStyle/>
            <a:p>
              <a:pPr algn="ctr">
                <a:lnSpc>
                  <a:spcPts val="4725"/>
                </a:lnSpc>
              </a:pPr>
              <a:r>
                <a:rPr lang="en-US" sz="3375">
                  <a:solidFill>
                    <a:srgbClr val="000000"/>
                  </a:solidFill>
                  <a:latin typeface="Inter"/>
                  <a:ea typeface="Inter"/>
                  <a:cs typeface="Inter"/>
                  <a:sym typeface="Inter"/>
                </a:rPr>
                <a:t>So sánh Testing vs Verification trên cùng 1 module: bug tìm được &amp; chi phí</a:t>
              </a:r>
            </a:p>
          </p:txBody>
        </p:sp>
      </p:grpSp>
      <p:sp>
        <p:nvSpPr>
          <p:cNvPr id="8" name="TextBox 8"/>
          <p:cNvSpPr txBox="1"/>
          <p:nvPr/>
        </p:nvSpPr>
        <p:spPr>
          <a:xfrm>
            <a:off x="2773094" y="667589"/>
            <a:ext cx="12741813" cy="1464934"/>
          </a:xfrm>
          <a:prstGeom prst="rect">
            <a:avLst/>
          </a:prstGeom>
        </p:spPr>
        <p:txBody>
          <a:bodyPr lIns="0" tIns="0" rIns="0" bIns="0" rtlCol="0" anchor="t">
            <a:spAutoFit/>
          </a:bodyPr>
          <a:lstStyle/>
          <a:p>
            <a:pPr algn="ctr">
              <a:lnSpc>
                <a:spcPts val="5880"/>
              </a:lnSpc>
              <a:spcBef>
                <a:spcPct val="0"/>
              </a:spcBef>
            </a:pPr>
            <a:r>
              <a:rPr lang="en-US" sz="4200">
                <a:solidFill>
                  <a:srgbClr val="000000"/>
                </a:solidFill>
                <a:latin typeface="Inter"/>
                <a:ea typeface="Inter"/>
                <a:cs typeface="Inter"/>
                <a:sym typeface="Inter"/>
              </a:rPr>
              <a:t>TRƯỜNG ĐẠI HỌC TÀI NGUYÊN VÀ MÔI TRƯỜNG </a:t>
            </a:r>
          </a:p>
          <a:p>
            <a:pPr algn="ctr">
              <a:lnSpc>
                <a:spcPts val="5880"/>
              </a:lnSpc>
              <a:spcBef>
                <a:spcPct val="0"/>
              </a:spcBef>
            </a:pPr>
            <a:r>
              <a:rPr lang="en-US" sz="4200">
                <a:solidFill>
                  <a:srgbClr val="000000"/>
                </a:solidFill>
                <a:latin typeface="Inter"/>
                <a:ea typeface="Inter"/>
                <a:cs typeface="Inter"/>
                <a:sym typeface="Inter"/>
              </a:rPr>
              <a:t>THÀNH PHỐ HỒ CHÍ MINH</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AutoShape 2"/>
          <p:cNvSpPr/>
          <p:nvPr/>
        </p:nvSpPr>
        <p:spPr>
          <a:xfrm>
            <a:off x="0" y="0"/>
            <a:ext cx="8670154" cy="10287000"/>
          </a:xfrm>
          <a:prstGeom prst="rect">
            <a:avLst/>
          </a:prstGeom>
          <a:solidFill>
            <a:srgbClr val="89E798"/>
          </a:solidFill>
        </p:spPr>
        <p:txBody>
          <a:bodyPr/>
          <a:lstStyle/>
          <a:p>
            <a:endParaRPr lang="en-US"/>
          </a:p>
        </p:txBody>
      </p:sp>
      <p:sp>
        <p:nvSpPr>
          <p:cNvPr id="3" name="Freeform 3"/>
          <p:cNvSpPr/>
          <p:nvPr/>
        </p:nvSpPr>
        <p:spPr>
          <a:xfrm>
            <a:off x="438089" y="3298333"/>
            <a:ext cx="7793977" cy="5959967"/>
          </a:xfrm>
          <a:custGeom>
            <a:avLst/>
            <a:gdLst/>
            <a:ahLst/>
            <a:cxnLst/>
            <a:rect l="l" t="t" r="r" b="b"/>
            <a:pathLst>
              <a:path w="7793977" h="5959967">
                <a:moveTo>
                  <a:pt x="0" y="0"/>
                </a:moveTo>
                <a:lnTo>
                  <a:pt x="7793977" y="0"/>
                </a:lnTo>
                <a:lnTo>
                  <a:pt x="7793977" y="5959967"/>
                </a:lnTo>
                <a:lnTo>
                  <a:pt x="0" y="5959967"/>
                </a:lnTo>
                <a:lnTo>
                  <a:pt x="0" y="0"/>
                </a:lnTo>
                <a:close/>
              </a:path>
            </a:pathLst>
          </a:custGeom>
          <a:blipFill>
            <a:blip r:embed="rId2"/>
            <a:stretch>
              <a:fillRect r="-22841"/>
            </a:stretch>
          </a:blipFill>
        </p:spPr>
        <p:txBody>
          <a:bodyPr/>
          <a:lstStyle/>
          <a:p>
            <a:endParaRPr lang="en-US"/>
          </a:p>
        </p:txBody>
      </p:sp>
      <p:sp>
        <p:nvSpPr>
          <p:cNvPr id="4" name="TextBox 4"/>
          <p:cNvSpPr txBox="1"/>
          <p:nvPr/>
        </p:nvSpPr>
        <p:spPr>
          <a:xfrm>
            <a:off x="349333" y="1322124"/>
            <a:ext cx="7971487" cy="1456616"/>
          </a:xfrm>
          <a:prstGeom prst="rect">
            <a:avLst/>
          </a:prstGeom>
        </p:spPr>
        <p:txBody>
          <a:bodyPr lIns="0" tIns="0" rIns="0" bIns="0" rtlCol="0" anchor="t">
            <a:spAutoFit/>
          </a:bodyPr>
          <a:lstStyle/>
          <a:p>
            <a:pPr algn="ctr">
              <a:lnSpc>
                <a:spcPts val="5600"/>
              </a:lnSpc>
            </a:pPr>
            <a:r>
              <a:rPr lang="en-US" sz="5600">
                <a:solidFill>
                  <a:srgbClr val="000000"/>
                </a:solidFill>
                <a:latin typeface="Inter"/>
                <a:ea typeface="Inter"/>
                <a:cs typeface="Inter"/>
                <a:sym typeface="Inter"/>
              </a:rPr>
              <a:t>TỔNG QUAN VÀ CHIẾN LƯỢC KIỂM THỬ</a:t>
            </a:r>
          </a:p>
        </p:txBody>
      </p:sp>
      <p:sp>
        <p:nvSpPr>
          <p:cNvPr id="5" name="TextBox 5"/>
          <p:cNvSpPr txBox="1"/>
          <p:nvPr/>
        </p:nvSpPr>
        <p:spPr>
          <a:xfrm>
            <a:off x="9471594" y="1398562"/>
            <a:ext cx="7787706" cy="7451776"/>
          </a:xfrm>
          <a:prstGeom prst="rect">
            <a:avLst/>
          </a:prstGeom>
        </p:spPr>
        <p:txBody>
          <a:bodyPr lIns="0" tIns="0" rIns="0" bIns="0" rtlCol="0" anchor="t">
            <a:spAutoFit/>
          </a:bodyPr>
          <a:lstStyle/>
          <a:p>
            <a:pPr algn="just">
              <a:lnSpc>
                <a:spcPts val="3505"/>
              </a:lnSpc>
            </a:pPr>
            <a:r>
              <a:rPr lang="en-US" sz="2696">
                <a:solidFill>
                  <a:srgbClr val="000000"/>
                </a:solidFill>
                <a:latin typeface="Inter"/>
                <a:ea typeface="Inter"/>
                <a:cs typeface="Inter"/>
                <a:sym typeface="Inter"/>
              </a:rPr>
              <a:t>1. Đối tượng và Phạm vi</a:t>
            </a:r>
          </a:p>
          <a:p>
            <a:pPr marL="582101" lvl="1" indent="-291050" algn="just">
              <a:lnSpc>
                <a:spcPts val="3505"/>
              </a:lnSpc>
              <a:buFont typeface="Arial"/>
              <a:buChar char="•"/>
            </a:pPr>
            <a:r>
              <a:rPr lang="en-US" sz="2696">
                <a:solidFill>
                  <a:srgbClr val="000000"/>
                </a:solidFill>
                <a:latin typeface="Inter"/>
                <a:ea typeface="Inter"/>
                <a:cs typeface="Inter"/>
                <a:sym typeface="Inter"/>
              </a:rPr>
              <a:t>Đối tượng kiểm thử: Module OrderService tại tầng Backend.</a:t>
            </a:r>
          </a:p>
          <a:p>
            <a:pPr marL="582101" lvl="1" indent="-291050" algn="just">
              <a:lnSpc>
                <a:spcPts val="3505"/>
              </a:lnSpc>
              <a:buFont typeface="Arial"/>
              <a:buChar char="•"/>
            </a:pPr>
            <a:r>
              <a:rPr lang="en-US" sz="2696">
                <a:solidFill>
                  <a:srgbClr val="000000"/>
                </a:solidFill>
                <a:latin typeface="Inter"/>
                <a:ea typeface="Inter"/>
                <a:cs typeface="Inter"/>
                <a:sym typeface="Inter"/>
              </a:rPr>
              <a:t>Chức năng cốt lõi: Tính Giảm giá và Tính Phí Vận chuyển.</a:t>
            </a:r>
          </a:p>
          <a:p>
            <a:pPr algn="just">
              <a:lnSpc>
                <a:spcPts val="3505"/>
              </a:lnSpc>
            </a:pPr>
            <a:r>
              <a:rPr lang="en-US" sz="2696">
                <a:solidFill>
                  <a:srgbClr val="000000"/>
                </a:solidFill>
                <a:latin typeface="Inter"/>
                <a:ea typeface="Inter"/>
                <a:cs typeface="Inter"/>
                <a:sym typeface="Inter"/>
              </a:rPr>
              <a:t>2. Phương pháp và Công nghệ</a:t>
            </a:r>
          </a:p>
          <a:p>
            <a:pPr marL="582101" lvl="1" indent="-291050" algn="just">
              <a:lnSpc>
                <a:spcPts val="3505"/>
              </a:lnSpc>
              <a:buFont typeface="Arial"/>
              <a:buChar char="•"/>
            </a:pPr>
            <a:r>
              <a:rPr lang="en-US" sz="2696">
                <a:solidFill>
                  <a:srgbClr val="000000"/>
                </a:solidFill>
                <a:latin typeface="Inter"/>
                <a:ea typeface="Inter"/>
                <a:cs typeface="Inter"/>
                <a:sym typeface="Inter"/>
              </a:rPr>
              <a:t>Chiến lược tiếp cận: Kết hợp Kiểm thử hộp trắng và Kiểm thử hộp đen.</a:t>
            </a:r>
          </a:p>
          <a:p>
            <a:pPr marL="582101" lvl="1" indent="-291050" algn="just">
              <a:lnSpc>
                <a:spcPts val="3505"/>
              </a:lnSpc>
              <a:buFont typeface="Arial"/>
              <a:buChar char="•"/>
            </a:pPr>
            <a:r>
              <a:rPr lang="en-US" sz="2696">
                <a:solidFill>
                  <a:srgbClr val="000000"/>
                </a:solidFill>
                <a:latin typeface="Inter"/>
                <a:ea typeface="Inter"/>
                <a:cs typeface="Inter"/>
                <a:sym typeface="Inter"/>
              </a:rPr>
              <a:t>Công nghệ triển khai: Java 17, JUnit 5, Maven và JaCoCo Plugin.</a:t>
            </a:r>
          </a:p>
          <a:p>
            <a:pPr algn="just">
              <a:lnSpc>
                <a:spcPts val="3505"/>
              </a:lnSpc>
            </a:pPr>
            <a:r>
              <a:rPr lang="en-US" sz="2696">
                <a:solidFill>
                  <a:srgbClr val="000000"/>
                </a:solidFill>
                <a:latin typeface="Inter"/>
                <a:ea typeface="Inter"/>
                <a:cs typeface="Inter"/>
                <a:sym typeface="Inter"/>
              </a:rPr>
              <a:t>3. Mục tiêu và Ngân sách</a:t>
            </a:r>
          </a:p>
          <a:p>
            <a:pPr marL="582101" lvl="1" indent="-291050" algn="just">
              <a:lnSpc>
                <a:spcPts val="3505"/>
              </a:lnSpc>
              <a:buFont typeface="Arial"/>
              <a:buChar char="•"/>
            </a:pPr>
            <a:r>
              <a:rPr lang="en-US" sz="2696">
                <a:solidFill>
                  <a:srgbClr val="000000"/>
                </a:solidFill>
                <a:latin typeface="Inter"/>
                <a:ea typeface="Inter"/>
                <a:cs typeface="Inter"/>
                <a:sym typeface="Inter"/>
              </a:rPr>
              <a:t>Tiêu chí chất lượng: Đạt 100% Bao phủ nhánh với 17 kịch bản kiểm thử.</a:t>
            </a:r>
          </a:p>
          <a:p>
            <a:pPr marL="582101" lvl="1" indent="-291050" algn="just">
              <a:lnSpc>
                <a:spcPts val="3505"/>
              </a:lnSpc>
              <a:buFont typeface="Arial"/>
              <a:buChar char="•"/>
            </a:pPr>
            <a:r>
              <a:rPr lang="en-US" sz="2696">
                <a:solidFill>
                  <a:srgbClr val="000000"/>
                </a:solidFill>
                <a:latin typeface="Inter"/>
                <a:ea typeface="Inter"/>
                <a:cs typeface="Inter"/>
                <a:sym typeface="Inter"/>
              </a:rPr>
              <a:t>Ngân sách thời gian: Hoàn thành trong 7 giờ làm việc.</a:t>
            </a:r>
          </a:p>
          <a:p>
            <a:pPr marL="582101" lvl="1" indent="-291050" algn="just">
              <a:lnSpc>
                <a:spcPts val="3505"/>
              </a:lnSpc>
              <a:buFont typeface="Arial"/>
              <a:buChar char="•"/>
            </a:pPr>
            <a:r>
              <a:rPr lang="en-US" sz="2696">
                <a:solidFill>
                  <a:srgbClr val="000000"/>
                </a:solidFill>
                <a:latin typeface="Inter"/>
                <a:ea typeface="Inter"/>
                <a:cs typeface="Inter"/>
                <a:sym typeface="Inter"/>
              </a:rPr>
              <a:t>Mục đích đối chiếu: So sánh hiệu quả chi phí giữa Kiểm thử tĩnh và Kiểm thử động.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89E798"/>
        </a:solidFill>
        <a:effectLst/>
      </p:bgPr>
    </p:bg>
    <p:spTree>
      <p:nvGrpSpPr>
        <p:cNvPr id="1" name=""/>
        <p:cNvGrpSpPr/>
        <p:nvPr/>
      </p:nvGrpSpPr>
      <p:grpSpPr>
        <a:xfrm>
          <a:off x="0" y="0"/>
          <a:ext cx="0" cy="0"/>
          <a:chOff x="0" y="0"/>
          <a:chExt cx="0" cy="0"/>
        </a:xfrm>
      </p:grpSpPr>
      <p:sp>
        <p:nvSpPr>
          <p:cNvPr id="2" name="Freeform 2"/>
          <p:cNvSpPr/>
          <p:nvPr/>
        </p:nvSpPr>
        <p:spPr>
          <a:xfrm>
            <a:off x="10199000" y="163066"/>
            <a:ext cx="6921631" cy="6392107"/>
          </a:xfrm>
          <a:custGeom>
            <a:avLst/>
            <a:gdLst/>
            <a:ahLst/>
            <a:cxnLst/>
            <a:rect l="l" t="t" r="r" b="b"/>
            <a:pathLst>
              <a:path w="6921631" h="6392107">
                <a:moveTo>
                  <a:pt x="0" y="0"/>
                </a:moveTo>
                <a:lnTo>
                  <a:pt x="6921631" y="0"/>
                </a:lnTo>
                <a:lnTo>
                  <a:pt x="6921631" y="6392108"/>
                </a:lnTo>
                <a:lnTo>
                  <a:pt x="0" y="6392108"/>
                </a:lnTo>
                <a:lnTo>
                  <a:pt x="0" y="0"/>
                </a:lnTo>
                <a:close/>
              </a:path>
            </a:pathLst>
          </a:custGeom>
          <a:blipFill>
            <a:blip r:embed="rId2"/>
            <a:stretch>
              <a:fillRect/>
            </a:stretch>
          </a:blipFill>
        </p:spPr>
        <p:txBody>
          <a:bodyPr/>
          <a:lstStyle/>
          <a:p>
            <a:endParaRPr lang="en-US"/>
          </a:p>
        </p:txBody>
      </p:sp>
      <p:sp>
        <p:nvSpPr>
          <p:cNvPr id="3" name="Freeform 3"/>
          <p:cNvSpPr/>
          <p:nvPr/>
        </p:nvSpPr>
        <p:spPr>
          <a:xfrm>
            <a:off x="8920159" y="6707684"/>
            <a:ext cx="9367841" cy="3009419"/>
          </a:xfrm>
          <a:custGeom>
            <a:avLst/>
            <a:gdLst/>
            <a:ahLst/>
            <a:cxnLst/>
            <a:rect l="l" t="t" r="r" b="b"/>
            <a:pathLst>
              <a:path w="9367841" h="3009419">
                <a:moveTo>
                  <a:pt x="0" y="0"/>
                </a:moveTo>
                <a:lnTo>
                  <a:pt x="9367841" y="0"/>
                </a:lnTo>
                <a:lnTo>
                  <a:pt x="9367841" y="3009419"/>
                </a:lnTo>
                <a:lnTo>
                  <a:pt x="0" y="3009419"/>
                </a:lnTo>
                <a:lnTo>
                  <a:pt x="0" y="0"/>
                </a:lnTo>
                <a:close/>
              </a:path>
            </a:pathLst>
          </a:custGeom>
          <a:blipFill>
            <a:blip r:embed="rId3"/>
            <a:stretch>
              <a:fillRect/>
            </a:stretch>
          </a:blipFill>
        </p:spPr>
        <p:txBody>
          <a:bodyPr/>
          <a:lstStyle/>
          <a:p>
            <a:endParaRPr lang="en-US"/>
          </a:p>
        </p:txBody>
      </p:sp>
      <p:sp>
        <p:nvSpPr>
          <p:cNvPr id="4" name="TextBox 4"/>
          <p:cNvSpPr txBox="1"/>
          <p:nvPr/>
        </p:nvSpPr>
        <p:spPr>
          <a:xfrm>
            <a:off x="303308" y="411968"/>
            <a:ext cx="8997767" cy="833797"/>
          </a:xfrm>
          <a:prstGeom prst="rect">
            <a:avLst/>
          </a:prstGeom>
        </p:spPr>
        <p:txBody>
          <a:bodyPr lIns="0" tIns="0" rIns="0" bIns="0" rtlCol="0" anchor="t">
            <a:spAutoFit/>
          </a:bodyPr>
          <a:lstStyle/>
          <a:p>
            <a:pPr algn="l">
              <a:lnSpc>
                <a:spcPts val="6200"/>
              </a:lnSpc>
            </a:pPr>
            <a:r>
              <a:rPr lang="en-US" sz="6200">
                <a:solidFill>
                  <a:srgbClr val="094850"/>
                </a:solidFill>
                <a:latin typeface="Inter"/>
                <a:ea typeface="Inter"/>
                <a:cs typeface="Inter"/>
                <a:sym typeface="Inter"/>
              </a:rPr>
              <a:t>THIẾT KẾ CA KIỂM THỬ</a:t>
            </a:r>
          </a:p>
        </p:txBody>
      </p:sp>
      <p:sp>
        <p:nvSpPr>
          <p:cNvPr id="5" name="TextBox 5"/>
          <p:cNvSpPr txBox="1"/>
          <p:nvPr/>
        </p:nvSpPr>
        <p:spPr>
          <a:xfrm>
            <a:off x="152400" y="1208802"/>
            <a:ext cx="8583217" cy="8982652"/>
          </a:xfrm>
          <a:prstGeom prst="rect">
            <a:avLst/>
          </a:prstGeom>
        </p:spPr>
        <p:txBody>
          <a:bodyPr wrap="square" lIns="0" tIns="0" rIns="0" bIns="0" rtlCol="0" anchor="t">
            <a:spAutoFit/>
          </a:bodyPr>
          <a:lstStyle/>
          <a:p>
            <a:pPr algn="just">
              <a:lnSpc>
                <a:spcPts val="2654"/>
              </a:lnSpc>
            </a:pPr>
            <a:r>
              <a:rPr lang="en-US" sz="2212" b="1" dirty="0">
                <a:solidFill>
                  <a:srgbClr val="094850"/>
                </a:solidFill>
                <a:latin typeface="Inter Bold"/>
                <a:ea typeface="Inter Bold"/>
                <a:cs typeface="Inter Bold"/>
                <a:sym typeface="Inter Bold"/>
              </a:rPr>
              <a:t>1. </a:t>
            </a:r>
            <a:r>
              <a:rPr lang="en-US" sz="2212" b="1" dirty="0" err="1">
                <a:solidFill>
                  <a:srgbClr val="094850"/>
                </a:solidFill>
                <a:latin typeface="Inter Bold"/>
                <a:ea typeface="Inter Bold"/>
                <a:cs typeface="Inter Bold"/>
                <a:sym typeface="Inter Bold"/>
              </a:rPr>
              <a:t>Áp</a:t>
            </a:r>
            <a:r>
              <a:rPr lang="en-US" sz="2212" b="1" dirty="0">
                <a:solidFill>
                  <a:srgbClr val="094850"/>
                </a:solidFill>
                <a:latin typeface="Inter Bold"/>
                <a:ea typeface="Inter Bold"/>
                <a:cs typeface="Inter Bold"/>
                <a:sym typeface="Inter Bold"/>
              </a:rPr>
              <a:t> </a:t>
            </a:r>
            <a:r>
              <a:rPr lang="en-US" sz="2212" b="1" dirty="0" err="1">
                <a:solidFill>
                  <a:srgbClr val="094850"/>
                </a:solidFill>
                <a:latin typeface="Inter Bold"/>
                <a:ea typeface="Inter Bold"/>
                <a:cs typeface="Inter Bold"/>
                <a:sym typeface="Inter Bold"/>
              </a:rPr>
              <a:t>dụng</a:t>
            </a:r>
            <a:r>
              <a:rPr lang="en-US" sz="2212" b="1" dirty="0">
                <a:solidFill>
                  <a:srgbClr val="094850"/>
                </a:solidFill>
                <a:latin typeface="Inter Bold"/>
                <a:ea typeface="Inter Bold"/>
                <a:cs typeface="Inter Bold"/>
                <a:sym typeface="Inter Bold"/>
              </a:rPr>
              <a:t> </a:t>
            </a:r>
            <a:r>
              <a:rPr lang="en-US" sz="2212" b="1" dirty="0" err="1">
                <a:solidFill>
                  <a:srgbClr val="094850"/>
                </a:solidFill>
                <a:latin typeface="Inter Bold"/>
                <a:ea typeface="Inter Bold"/>
                <a:cs typeface="Inter Bold"/>
                <a:sym typeface="Inter Bold"/>
              </a:rPr>
              <a:t>kỹ</a:t>
            </a:r>
            <a:r>
              <a:rPr lang="en-US" sz="2212" b="1" dirty="0">
                <a:solidFill>
                  <a:srgbClr val="094850"/>
                </a:solidFill>
                <a:latin typeface="Inter Bold"/>
                <a:ea typeface="Inter Bold"/>
                <a:cs typeface="Inter Bold"/>
                <a:sym typeface="Inter Bold"/>
              </a:rPr>
              <a:t> </a:t>
            </a:r>
            <a:r>
              <a:rPr lang="en-US" sz="2212" b="1" dirty="0" err="1">
                <a:solidFill>
                  <a:srgbClr val="094850"/>
                </a:solidFill>
                <a:latin typeface="Inter Bold"/>
                <a:ea typeface="Inter Bold"/>
                <a:cs typeface="Inter Bold"/>
                <a:sym typeface="Inter Bold"/>
              </a:rPr>
              <a:t>thuật</a:t>
            </a:r>
            <a:r>
              <a:rPr lang="en-US" sz="2212" b="1" dirty="0">
                <a:solidFill>
                  <a:srgbClr val="094850"/>
                </a:solidFill>
                <a:latin typeface="Inter Bold"/>
                <a:ea typeface="Inter Bold"/>
                <a:cs typeface="Inter Bold"/>
                <a:sym typeface="Inter Bold"/>
              </a:rPr>
              <a:t> </a:t>
            </a:r>
            <a:r>
              <a:rPr lang="en-US" sz="2212" b="1" dirty="0" err="1">
                <a:solidFill>
                  <a:srgbClr val="094850"/>
                </a:solidFill>
                <a:latin typeface="Inter Bold"/>
                <a:ea typeface="Inter Bold"/>
                <a:cs typeface="Inter Bold"/>
                <a:sym typeface="Inter Bold"/>
              </a:rPr>
              <a:t>phân</a:t>
            </a:r>
            <a:r>
              <a:rPr lang="en-US" sz="2212" b="1" dirty="0">
                <a:solidFill>
                  <a:srgbClr val="094850"/>
                </a:solidFill>
                <a:latin typeface="Inter Bold"/>
                <a:ea typeface="Inter Bold"/>
                <a:cs typeface="Inter Bold"/>
                <a:sym typeface="Inter Bold"/>
              </a:rPr>
              <a:t> </a:t>
            </a:r>
            <a:r>
              <a:rPr lang="en-US" sz="2212" b="1" dirty="0" err="1">
                <a:solidFill>
                  <a:srgbClr val="094850"/>
                </a:solidFill>
                <a:latin typeface="Inter Bold"/>
                <a:ea typeface="Inter Bold"/>
                <a:cs typeface="Inter Bold"/>
                <a:sym typeface="Inter Bold"/>
              </a:rPr>
              <a:t>tích</a:t>
            </a:r>
            <a:r>
              <a:rPr lang="en-US" sz="2212" b="1" dirty="0">
                <a:solidFill>
                  <a:srgbClr val="094850"/>
                </a:solidFill>
                <a:latin typeface="Inter Bold"/>
                <a:ea typeface="Inter Bold"/>
                <a:cs typeface="Inter Bold"/>
                <a:sym typeface="Inter Bold"/>
              </a:rPr>
              <a:t> </a:t>
            </a:r>
            <a:r>
              <a:rPr lang="en-US" sz="2212" b="1" dirty="0" err="1">
                <a:solidFill>
                  <a:srgbClr val="094850"/>
                </a:solidFill>
                <a:latin typeface="Inter Bold"/>
                <a:ea typeface="Inter Bold"/>
                <a:cs typeface="Inter Bold"/>
                <a:sym typeface="Inter Bold"/>
              </a:rPr>
              <a:t>giá</a:t>
            </a:r>
            <a:r>
              <a:rPr lang="en-US" sz="2212" b="1" dirty="0">
                <a:solidFill>
                  <a:srgbClr val="094850"/>
                </a:solidFill>
                <a:latin typeface="Inter Bold"/>
                <a:ea typeface="Inter Bold"/>
                <a:cs typeface="Inter Bold"/>
                <a:sym typeface="Inter Bold"/>
              </a:rPr>
              <a:t> </a:t>
            </a:r>
            <a:r>
              <a:rPr lang="en-US" sz="2212" b="1" dirty="0" err="1">
                <a:solidFill>
                  <a:srgbClr val="094850"/>
                </a:solidFill>
                <a:latin typeface="Inter Bold"/>
                <a:ea typeface="Inter Bold"/>
                <a:cs typeface="Inter Bold"/>
                <a:sym typeface="Inter Bold"/>
              </a:rPr>
              <a:t>trị</a:t>
            </a:r>
            <a:r>
              <a:rPr lang="en-US" sz="2212" b="1" dirty="0">
                <a:solidFill>
                  <a:srgbClr val="094850"/>
                </a:solidFill>
                <a:latin typeface="Inter Bold"/>
                <a:ea typeface="Inter Bold"/>
                <a:cs typeface="Inter Bold"/>
                <a:sym typeface="Inter Bold"/>
              </a:rPr>
              <a:t> </a:t>
            </a:r>
            <a:r>
              <a:rPr lang="en-US" sz="2212" b="1" dirty="0" err="1">
                <a:solidFill>
                  <a:srgbClr val="094850"/>
                </a:solidFill>
                <a:latin typeface="Inter Bold"/>
                <a:ea typeface="Inter Bold"/>
                <a:cs typeface="Inter Bold"/>
                <a:sym typeface="Inter Bold"/>
              </a:rPr>
              <a:t>biên</a:t>
            </a:r>
            <a:r>
              <a:rPr lang="en-US" sz="2212" b="1" dirty="0">
                <a:solidFill>
                  <a:srgbClr val="094850"/>
                </a:solidFill>
                <a:latin typeface="Inter Bold"/>
                <a:ea typeface="Inter Bold"/>
                <a:cs typeface="Inter Bold"/>
                <a:sym typeface="Inter Bold"/>
              </a:rPr>
              <a:t> </a:t>
            </a:r>
          </a:p>
          <a:p>
            <a:pPr algn="just">
              <a:lnSpc>
                <a:spcPts val="2654"/>
              </a:lnSpc>
            </a:pPr>
            <a:r>
              <a:rPr lang="en-US" sz="2212" dirty="0" err="1">
                <a:solidFill>
                  <a:srgbClr val="094850"/>
                </a:solidFill>
                <a:latin typeface="Inter"/>
                <a:ea typeface="Inter"/>
                <a:cs typeface="Inter"/>
                <a:sym typeface="Inter"/>
              </a:rPr>
              <a:t>Thay</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vì</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chọn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dữ</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liệu</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ngẫu</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nhiên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kỹ</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thuật</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Giá</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trị</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biên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chủ</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động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kiểm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tra</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hệ</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thống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tại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các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ranh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giới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dễ</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phát</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sinh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sai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sót</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nhất</a:t>
            </a:r>
            <a:r>
              <a:rPr lang="en-US" sz="2212" dirty="0">
                <a:solidFill>
                  <a:srgbClr val="094850"/>
                </a:solidFill>
                <a:latin typeface="Inter"/>
                <a:ea typeface="Inter"/>
                <a:cs typeface="Inter"/>
                <a:sym typeface="Inter"/>
              </a:rPr>
              <a:t>:</a:t>
            </a:r>
          </a:p>
          <a:p>
            <a:pPr marL="477629" lvl="1" indent="-238814" algn="just">
              <a:lnSpc>
                <a:spcPts val="2654"/>
              </a:lnSpc>
              <a:buFont typeface="Arial"/>
              <a:buChar char="•"/>
            </a:pPr>
            <a:r>
              <a:rPr lang="en-US" sz="2212" dirty="0" err="1">
                <a:solidFill>
                  <a:srgbClr val="094850"/>
                </a:solidFill>
                <a:latin typeface="Inter"/>
                <a:ea typeface="Inter"/>
                <a:cs typeface="Inter"/>
                <a:sym typeface="Inter"/>
              </a:rPr>
              <a:t>Đối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với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hàm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Giảm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giá</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Kịch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bản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truyền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số</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tiền</a:t>
            </a:r>
            <a:r>
              <a:rPr lang="en-US" sz="2212" dirty="0">
                <a:solidFill>
                  <a:srgbClr val="094850"/>
                </a:solidFill>
                <a:latin typeface="Inter"/>
                <a:ea typeface="Inter"/>
                <a:cs typeface="Inter"/>
                <a:sym typeface="Inter"/>
              </a:rPr>
              <a:t> 300 </a:t>
            </a:r>
            <a:r>
              <a:rPr lang="en-US" sz="2212" dirty="0" err="1">
                <a:solidFill>
                  <a:srgbClr val="094850"/>
                </a:solidFill>
                <a:latin typeface="Inter"/>
                <a:ea typeface="Inter"/>
                <a:cs typeface="Inter"/>
                <a:sym typeface="Inter"/>
              </a:rPr>
              <a:t>thuộc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vùng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biên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giảm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cố</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định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và</a:t>
            </a:r>
            <a:r>
              <a:rPr lang="en-US" sz="2212" dirty="0">
                <a:solidFill>
                  <a:srgbClr val="094850"/>
                </a:solidFill>
                <a:latin typeface="Inter"/>
                <a:ea typeface="Inter"/>
                <a:cs typeface="Inter"/>
                <a:sym typeface="Inter"/>
              </a:rPr>
              <a:t> 6000 </a:t>
            </a:r>
            <a:r>
              <a:rPr lang="en-US" sz="2212" dirty="0" err="1">
                <a:solidFill>
                  <a:srgbClr val="094850"/>
                </a:solidFill>
                <a:latin typeface="Inter"/>
                <a:ea typeface="Inter"/>
                <a:cs typeface="Inter"/>
                <a:sym typeface="Inter"/>
              </a:rPr>
              <a:t>vượt</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mức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trần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tối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đa</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Kết</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quả</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đã</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phát</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hiện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lỗi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lập</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trình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viên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gõ</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nhầm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mức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giảm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thành</a:t>
            </a:r>
            <a:r>
              <a:rPr lang="en-US" sz="2212" dirty="0">
                <a:solidFill>
                  <a:srgbClr val="094850"/>
                </a:solidFill>
                <a:latin typeface="Inter"/>
                <a:ea typeface="Inter"/>
                <a:cs typeface="Inter"/>
                <a:sym typeface="Inter"/>
              </a:rPr>
              <a:t> 100 </a:t>
            </a:r>
            <a:r>
              <a:rPr lang="en-US" sz="2212" dirty="0" err="1">
                <a:solidFill>
                  <a:srgbClr val="094850"/>
                </a:solidFill>
                <a:latin typeface="Inter"/>
                <a:ea typeface="Inter"/>
                <a:cs typeface="Inter"/>
                <a:sym typeface="Inter"/>
              </a:rPr>
              <a:t>và</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gán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sai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mức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trần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thành</a:t>
            </a:r>
            <a:r>
              <a:rPr lang="en-US" sz="2212" dirty="0">
                <a:solidFill>
                  <a:srgbClr val="094850"/>
                </a:solidFill>
                <a:latin typeface="Inter"/>
                <a:ea typeface="Inter"/>
                <a:cs typeface="Inter"/>
                <a:sym typeface="Inter"/>
              </a:rPr>
              <a:t> 10000.</a:t>
            </a:r>
          </a:p>
          <a:p>
            <a:pPr marL="477629" lvl="1" indent="-238814" algn="just">
              <a:lnSpc>
                <a:spcPts val="2654"/>
              </a:lnSpc>
              <a:buFont typeface="Arial"/>
              <a:buChar char="•"/>
            </a:pPr>
            <a:r>
              <a:rPr lang="en-US" sz="2212" dirty="0" err="1">
                <a:solidFill>
                  <a:srgbClr val="094850"/>
                </a:solidFill>
                <a:latin typeface="Inter"/>
                <a:ea typeface="Inter"/>
                <a:cs typeface="Inter"/>
                <a:sym typeface="Inter"/>
              </a:rPr>
              <a:t>Đối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với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hàm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Vận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chuyển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Kịch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bản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truyền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cân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nặng</a:t>
            </a:r>
            <a:r>
              <a:rPr lang="en-US" sz="2212" dirty="0">
                <a:solidFill>
                  <a:srgbClr val="094850"/>
                </a:solidFill>
                <a:latin typeface="Inter"/>
                <a:ea typeface="Inter"/>
                <a:cs typeface="Inter"/>
                <a:sym typeface="Inter"/>
              </a:rPr>
              <a:t> 8 </a:t>
            </a:r>
            <a:r>
              <a:rPr lang="en-US" sz="2212" dirty="0" err="1">
                <a:solidFill>
                  <a:srgbClr val="094850"/>
                </a:solidFill>
                <a:latin typeface="Inter"/>
                <a:ea typeface="Inter"/>
                <a:cs typeface="Inter"/>
                <a:sym typeface="Inter"/>
              </a:rPr>
              <a:t>ký</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chạm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mốc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phụ</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thu</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hàng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nặng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trên</a:t>
            </a:r>
            <a:r>
              <a:rPr lang="en-US" sz="2212" dirty="0">
                <a:solidFill>
                  <a:srgbClr val="094850"/>
                </a:solidFill>
                <a:latin typeface="Inter"/>
                <a:ea typeface="Inter"/>
                <a:cs typeface="Inter"/>
                <a:sym typeface="Inter"/>
              </a:rPr>
              <a:t> 5 </a:t>
            </a:r>
            <a:r>
              <a:rPr lang="en-US" sz="2212" dirty="0" err="1">
                <a:solidFill>
                  <a:srgbClr val="094850"/>
                </a:solidFill>
                <a:latin typeface="Inter"/>
                <a:ea typeface="Inter"/>
                <a:cs typeface="Inter"/>
                <a:sym typeface="Inter"/>
              </a:rPr>
              <a:t>ký</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và</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khoảng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cách</a:t>
            </a:r>
            <a:r>
              <a:rPr lang="en-US" sz="2212" dirty="0">
                <a:solidFill>
                  <a:srgbClr val="094850"/>
                </a:solidFill>
                <a:latin typeface="Inter"/>
                <a:ea typeface="Inter"/>
                <a:cs typeface="Inter"/>
                <a:sym typeface="Inter"/>
              </a:rPr>
              <a:t> 100 </a:t>
            </a:r>
            <a:r>
              <a:rPr lang="en-US" sz="2212" dirty="0" err="1">
                <a:solidFill>
                  <a:srgbClr val="094850"/>
                </a:solidFill>
                <a:latin typeface="Inter"/>
                <a:ea typeface="Inter"/>
                <a:cs typeface="Inter"/>
                <a:sym typeface="Inter"/>
              </a:rPr>
              <a:t>cây</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số</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nhằm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kiểm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tra</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ngưỡng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tổng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phí</a:t>
            </a:r>
            <a:r>
              <a:rPr lang="en-US" sz="2212" dirty="0">
                <a:solidFill>
                  <a:srgbClr val="094850"/>
                </a:solidFill>
                <a:latin typeface="Inter"/>
                <a:ea typeface="Inter"/>
                <a:cs typeface="Inter"/>
                <a:sym typeface="Inter"/>
              </a:rPr>
              <a:t> 500.000 </a:t>
            </a:r>
            <a:r>
              <a:rPr lang="en-US" sz="2212" dirty="0" err="1">
                <a:solidFill>
                  <a:srgbClr val="094850"/>
                </a:solidFill>
                <a:latin typeface="Inter"/>
                <a:ea typeface="Inter"/>
                <a:cs typeface="Inter"/>
                <a:sym typeface="Inter"/>
              </a:rPr>
              <a:t>đồng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Kết</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quả</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đã</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ghi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nhận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lỗi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tính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sai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phí</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cồng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kềnh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là</a:t>
            </a:r>
            <a:r>
              <a:rPr lang="en-US" sz="2212" dirty="0">
                <a:solidFill>
                  <a:srgbClr val="094850"/>
                </a:solidFill>
                <a:latin typeface="Inter"/>
                <a:ea typeface="Inter"/>
                <a:cs typeface="Inter"/>
                <a:sym typeface="Inter"/>
              </a:rPr>
              <a:t> 215.000 </a:t>
            </a:r>
            <a:r>
              <a:rPr lang="en-US" sz="2212" dirty="0" err="1">
                <a:solidFill>
                  <a:srgbClr val="094850"/>
                </a:solidFill>
                <a:latin typeface="Inter"/>
                <a:ea typeface="Inter"/>
                <a:cs typeface="Inter"/>
                <a:sym typeface="Inter"/>
              </a:rPr>
              <a:t>thay</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vì</a:t>
            </a:r>
            <a:r>
              <a:rPr lang="en-US" sz="2212" dirty="0">
                <a:solidFill>
                  <a:srgbClr val="094850"/>
                </a:solidFill>
                <a:latin typeface="Inter"/>
                <a:ea typeface="Inter"/>
                <a:cs typeface="Inter"/>
                <a:sym typeface="Inter"/>
              </a:rPr>
              <a:t> 35.000 </a:t>
            </a:r>
            <a:r>
              <a:rPr lang="en-US" sz="2212" dirty="0" err="1">
                <a:solidFill>
                  <a:srgbClr val="094850"/>
                </a:solidFill>
                <a:latin typeface="Inter"/>
                <a:ea typeface="Inter"/>
                <a:cs typeface="Inter"/>
                <a:sym typeface="Inter"/>
              </a:rPr>
              <a:t>và</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lỗi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hệ</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thống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không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kích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hoạt</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chính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sách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miễn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phí</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giao</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hàng</a:t>
            </a:r>
            <a:r>
              <a:rPr lang="en-US" sz="2212" dirty="0">
                <a:solidFill>
                  <a:srgbClr val="094850"/>
                </a:solidFill>
                <a:latin typeface="Inter"/>
                <a:ea typeface="Inter"/>
                <a:cs typeface="Inter"/>
                <a:sym typeface="Inter"/>
              </a:rPr>
              <a:t>.</a:t>
            </a:r>
          </a:p>
          <a:p>
            <a:pPr algn="just">
              <a:lnSpc>
                <a:spcPts val="2654"/>
              </a:lnSpc>
            </a:pPr>
            <a:r>
              <a:rPr lang="en-US" sz="2212" b="1" dirty="0">
                <a:solidFill>
                  <a:srgbClr val="094850"/>
                </a:solidFill>
                <a:latin typeface="Inter Bold"/>
                <a:ea typeface="Inter Bold"/>
                <a:cs typeface="Inter Bold"/>
                <a:sym typeface="Inter Bold"/>
              </a:rPr>
              <a:t>2. </a:t>
            </a:r>
            <a:r>
              <a:rPr lang="en-US" sz="2212" b="1" dirty="0" err="1">
                <a:solidFill>
                  <a:srgbClr val="094850"/>
                </a:solidFill>
                <a:latin typeface="Inter Bold"/>
                <a:ea typeface="Inter Bold"/>
                <a:cs typeface="Inter Bold"/>
                <a:sym typeface="Inter Bold"/>
              </a:rPr>
              <a:t>Tối</a:t>
            </a:r>
            <a:r>
              <a:rPr lang="en-US" sz="2212" b="1" dirty="0">
                <a:solidFill>
                  <a:srgbClr val="094850"/>
                </a:solidFill>
                <a:latin typeface="Inter Bold"/>
                <a:ea typeface="Inter Bold"/>
                <a:cs typeface="Inter Bold"/>
                <a:sym typeface="Inter Bold"/>
              </a:rPr>
              <a:t> </a:t>
            </a:r>
            <a:r>
              <a:rPr lang="en-US" sz="2212" b="1" dirty="0" err="1">
                <a:solidFill>
                  <a:srgbClr val="094850"/>
                </a:solidFill>
                <a:latin typeface="Inter Bold"/>
                <a:ea typeface="Inter Bold"/>
                <a:cs typeface="Inter Bold"/>
                <a:sym typeface="Inter Bold"/>
              </a:rPr>
              <a:t>ưu</a:t>
            </a:r>
            <a:r>
              <a:rPr lang="en-US" sz="2212" b="1" dirty="0">
                <a:solidFill>
                  <a:srgbClr val="094850"/>
                </a:solidFill>
                <a:latin typeface="Inter Bold"/>
                <a:ea typeface="Inter Bold"/>
                <a:cs typeface="Inter Bold"/>
                <a:sym typeface="Inter Bold"/>
              </a:rPr>
              <a:t> </a:t>
            </a:r>
            <a:r>
              <a:rPr lang="en-US" sz="2212" b="1" dirty="0" err="1">
                <a:solidFill>
                  <a:srgbClr val="094850"/>
                </a:solidFill>
                <a:latin typeface="Inter Bold"/>
                <a:ea typeface="Inter Bold"/>
                <a:cs typeface="Inter Bold"/>
                <a:sym typeface="Inter Bold"/>
              </a:rPr>
              <a:t>hóa</a:t>
            </a:r>
            <a:r>
              <a:rPr lang="en-US" sz="2212" b="1" dirty="0">
                <a:solidFill>
                  <a:srgbClr val="094850"/>
                </a:solidFill>
                <a:latin typeface="Inter Bold"/>
                <a:ea typeface="Inter Bold"/>
                <a:cs typeface="Inter Bold"/>
                <a:sym typeface="Inter Bold"/>
              </a:rPr>
              <a:t> </a:t>
            </a:r>
            <a:r>
              <a:rPr lang="en-US" sz="2212" b="1" dirty="0" err="1">
                <a:solidFill>
                  <a:srgbClr val="094850"/>
                </a:solidFill>
                <a:latin typeface="Inter Bold"/>
                <a:ea typeface="Inter Bold"/>
                <a:cs typeface="Inter Bold"/>
                <a:sym typeface="Inter Bold"/>
              </a:rPr>
              <a:t>kịch</a:t>
            </a:r>
            <a:r>
              <a:rPr lang="en-US" sz="2212" b="1" dirty="0">
                <a:solidFill>
                  <a:srgbClr val="094850"/>
                </a:solidFill>
                <a:latin typeface="Inter Bold"/>
                <a:ea typeface="Inter Bold"/>
                <a:cs typeface="Inter Bold"/>
                <a:sym typeface="Inter Bold"/>
              </a:rPr>
              <a:t> </a:t>
            </a:r>
            <a:r>
              <a:rPr lang="en-US" sz="2212" b="1" dirty="0" err="1">
                <a:solidFill>
                  <a:srgbClr val="094850"/>
                </a:solidFill>
                <a:latin typeface="Inter Bold"/>
                <a:ea typeface="Inter Bold"/>
                <a:cs typeface="Inter Bold"/>
                <a:sym typeface="Inter Bold"/>
              </a:rPr>
              <a:t>bản</a:t>
            </a:r>
            <a:r>
              <a:rPr lang="en-US" sz="2212" b="1" dirty="0">
                <a:solidFill>
                  <a:srgbClr val="094850"/>
                </a:solidFill>
                <a:latin typeface="Inter Bold"/>
                <a:ea typeface="Inter Bold"/>
                <a:cs typeface="Inter Bold"/>
                <a:sym typeface="Inter Bold"/>
              </a:rPr>
              <a:t> </a:t>
            </a:r>
            <a:r>
              <a:rPr lang="en-US" sz="2212" b="1" dirty="0" err="1">
                <a:solidFill>
                  <a:srgbClr val="094850"/>
                </a:solidFill>
                <a:latin typeface="Inter Bold"/>
                <a:ea typeface="Inter Bold"/>
                <a:cs typeface="Inter Bold"/>
                <a:sym typeface="Inter Bold"/>
              </a:rPr>
              <a:t>bằng</a:t>
            </a:r>
            <a:r>
              <a:rPr lang="en-US" sz="2212" b="1" dirty="0">
                <a:solidFill>
                  <a:srgbClr val="094850"/>
                </a:solidFill>
                <a:latin typeface="Inter Bold"/>
                <a:ea typeface="Inter Bold"/>
                <a:cs typeface="Inter Bold"/>
                <a:sym typeface="Inter Bold"/>
              </a:rPr>
              <a:t> </a:t>
            </a:r>
            <a:r>
              <a:rPr lang="en-US" sz="2212" b="1" dirty="0" err="1">
                <a:solidFill>
                  <a:srgbClr val="094850"/>
                </a:solidFill>
                <a:latin typeface="Inter Bold"/>
                <a:ea typeface="Inter Bold"/>
                <a:cs typeface="Inter Bold"/>
                <a:sym typeface="Inter Bold"/>
              </a:rPr>
              <a:t>bảng</a:t>
            </a:r>
            <a:r>
              <a:rPr lang="en-US" sz="2212" b="1" dirty="0">
                <a:solidFill>
                  <a:srgbClr val="094850"/>
                </a:solidFill>
                <a:latin typeface="Inter Bold"/>
                <a:ea typeface="Inter Bold"/>
                <a:cs typeface="Inter Bold"/>
                <a:sym typeface="Inter Bold"/>
              </a:rPr>
              <a:t> </a:t>
            </a:r>
            <a:r>
              <a:rPr lang="en-US" sz="2212" b="1" dirty="0" err="1">
                <a:solidFill>
                  <a:srgbClr val="094850"/>
                </a:solidFill>
                <a:latin typeface="Inter Bold"/>
                <a:ea typeface="Inter Bold"/>
                <a:cs typeface="Inter Bold"/>
                <a:sym typeface="Inter Bold"/>
              </a:rPr>
              <a:t>quyết</a:t>
            </a:r>
            <a:r>
              <a:rPr lang="en-US" sz="2212" b="1" dirty="0">
                <a:solidFill>
                  <a:srgbClr val="094850"/>
                </a:solidFill>
                <a:latin typeface="Inter Bold"/>
                <a:ea typeface="Inter Bold"/>
                <a:cs typeface="Inter Bold"/>
                <a:sym typeface="Inter Bold"/>
              </a:rPr>
              <a:t> </a:t>
            </a:r>
            <a:r>
              <a:rPr lang="en-US" sz="2212" b="1" dirty="0" err="1">
                <a:solidFill>
                  <a:srgbClr val="094850"/>
                </a:solidFill>
                <a:latin typeface="Inter Bold"/>
                <a:ea typeface="Inter Bold"/>
                <a:cs typeface="Inter Bold"/>
                <a:sym typeface="Inter Bold"/>
              </a:rPr>
              <a:t>định</a:t>
            </a:r>
            <a:endParaRPr lang="en-US" sz="2212" b="1" dirty="0">
              <a:solidFill>
                <a:srgbClr val="094850"/>
              </a:solidFill>
              <a:latin typeface="Inter Bold"/>
              <a:ea typeface="Inter Bold"/>
              <a:cs typeface="Inter Bold"/>
              <a:sym typeface="Inter Bold"/>
            </a:endParaRPr>
          </a:p>
          <a:p>
            <a:pPr marL="477629" lvl="1" indent="-238814" algn="just">
              <a:lnSpc>
                <a:spcPts val="2654"/>
              </a:lnSpc>
              <a:buFont typeface="Arial"/>
              <a:buChar char="•"/>
            </a:pPr>
            <a:r>
              <a:rPr lang="en-US" sz="2212" dirty="0" err="1">
                <a:solidFill>
                  <a:srgbClr val="094850"/>
                </a:solidFill>
                <a:latin typeface="Inter"/>
                <a:ea typeface="Inter"/>
                <a:cs typeface="Inter"/>
                <a:sym typeface="Inter"/>
              </a:rPr>
              <a:t>Bước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phân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tích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Cả</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hai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hàm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Giảm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giá</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và</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Vận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chuyển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đều</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phụ</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thuộc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vào</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bốn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điều</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kiện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đầu</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vào</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độc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lập</a:t>
            </a:r>
            <a:r>
              <a:rPr lang="en-US" sz="2212" dirty="0">
                <a:solidFill>
                  <a:srgbClr val="094850"/>
                </a:solidFill>
                <a:latin typeface="Inter"/>
                <a:ea typeface="Inter"/>
                <a:cs typeface="Inter"/>
                <a:sym typeface="Inter"/>
              </a:rPr>
              <a:t>. Theo </a:t>
            </a:r>
            <a:r>
              <a:rPr lang="en-US" sz="2212" dirty="0" err="1">
                <a:solidFill>
                  <a:srgbClr val="094850"/>
                </a:solidFill>
                <a:latin typeface="Inter"/>
                <a:ea typeface="Inter"/>
                <a:cs typeface="Inter"/>
                <a:sym typeface="Inter"/>
              </a:rPr>
              <a:t>tổ</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hợp</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toán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học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mỗi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hàm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sẽ</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sinh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ra</a:t>
            </a:r>
            <a:r>
              <a:rPr lang="en-US" sz="2212" dirty="0">
                <a:solidFill>
                  <a:srgbClr val="094850"/>
                </a:solidFill>
                <a:latin typeface="Inter"/>
                <a:ea typeface="Inter"/>
                <a:cs typeface="Inter"/>
                <a:sym typeface="Inter"/>
              </a:rPr>
              <a:t> 16 </a:t>
            </a:r>
            <a:r>
              <a:rPr lang="en-US" sz="2212" dirty="0" err="1">
                <a:solidFill>
                  <a:srgbClr val="094850"/>
                </a:solidFill>
                <a:latin typeface="Inter"/>
                <a:ea typeface="Inter"/>
                <a:cs typeface="Inter"/>
                <a:sym typeface="Inter"/>
              </a:rPr>
              <a:t>quy</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tắc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kiểm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thử</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cơ</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sở</a:t>
            </a:r>
            <a:r>
              <a:rPr lang="en-US" sz="2212" dirty="0">
                <a:solidFill>
                  <a:srgbClr val="094850"/>
                </a:solidFill>
                <a:latin typeface="Inter"/>
                <a:ea typeface="Inter"/>
                <a:cs typeface="Inter"/>
                <a:sym typeface="Inter"/>
              </a:rPr>
              <a:t>.</a:t>
            </a:r>
          </a:p>
          <a:p>
            <a:pPr marL="477629" lvl="1" indent="-238814" algn="just">
              <a:lnSpc>
                <a:spcPts val="2654"/>
              </a:lnSpc>
              <a:buFont typeface="Arial"/>
              <a:buChar char="•"/>
            </a:pPr>
            <a:r>
              <a:rPr lang="en-US" sz="2212" dirty="0" err="1">
                <a:solidFill>
                  <a:srgbClr val="094850"/>
                </a:solidFill>
                <a:latin typeface="Inter"/>
                <a:ea typeface="Inter"/>
                <a:cs typeface="Inter"/>
                <a:sym typeface="Inter"/>
              </a:rPr>
              <a:t>Bước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rút</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gọn</a:t>
            </a:r>
            <a:r>
              <a:rPr lang="en-US" sz="2212" dirty="0">
                <a:solidFill>
                  <a:srgbClr val="094850"/>
                </a:solidFill>
                <a:latin typeface="Inter"/>
                <a:ea typeface="Inter"/>
                <a:cs typeface="Inter"/>
                <a:sym typeface="Inter"/>
              </a:rPr>
              <a:t> logic: </a:t>
            </a:r>
            <a:r>
              <a:rPr lang="en-US" sz="2212" dirty="0" err="1">
                <a:solidFill>
                  <a:srgbClr val="094850"/>
                </a:solidFill>
                <a:latin typeface="Inter"/>
                <a:ea typeface="Inter"/>
                <a:cs typeface="Inter"/>
                <a:sym typeface="Inter"/>
              </a:rPr>
              <a:t>Nhóm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tiến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hành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gộp</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toàn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bộ</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các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quy</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tắc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báo</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lỗi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ngoại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lệ</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như</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tiền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âm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khoảng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cách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âm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và</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cân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nặng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âm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thành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các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kịch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bản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kiểm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thử</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duy</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nhất</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Đồng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thời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các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tổ</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hợp</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điều</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kiện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vô</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lý</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về</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mặt</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thực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tế</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cũng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được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loại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bỏ</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hoàn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toàn</a:t>
            </a:r>
            <a:r>
              <a:rPr lang="en-US" sz="2212" dirty="0">
                <a:solidFill>
                  <a:srgbClr val="094850"/>
                </a:solidFill>
                <a:latin typeface="Inter"/>
                <a:ea typeface="Inter"/>
                <a:cs typeface="Inter"/>
                <a:sym typeface="Inter"/>
              </a:rPr>
              <a:t>.</a:t>
            </a:r>
          </a:p>
          <a:p>
            <a:pPr marL="477629" lvl="1" indent="-238814" algn="just">
              <a:lnSpc>
                <a:spcPts val="2654"/>
              </a:lnSpc>
              <a:buFont typeface="Arial"/>
              <a:buChar char="•"/>
            </a:pPr>
            <a:r>
              <a:rPr lang="en-US" sz="2212" dirty="0" err="1">
                <a:solidFill>
                  <a:srgbClr val="094850"/>
                </a:solidFill>
                <a:latin typeface="Inter"/>
                <a:ea typeface="Inter"/>
                <a:cs typeface="Inter"/>
                <a:sym typeface="Inter"/>
              </a:rPr>
              <a:t>Kết</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quả</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Từ</a:t>
            </a:r>
            <a:r>
              <a:rPr lang="en-US" sz="2212" dirty="0">
                <a:solidFill>
                  <a:srgbClr val="094850"/>
                </a:solidFill>
                <a:latin typeface="Inter"/>
                <a:ea typeface="Inter"/>
                <a:cs typeface="Inter"/>
                <a:sym typeface="Inter"/>
              </a:rPr>
              <a:t> 16 </a:t>
            </a:r>
            <a:r>
              <a:rPr lang="en-US" sz="2212" dirty="0" err="1">
                <a:solidFill>
                  <a:srgbClr val="094850"/>
                </a:solidFill>
                <a:latin typeface="Inter"/>
                <a:ea typeface="Inter"/>
                <a:cs typeface="Inter"/>
                <a:sym typeface="Inter"/>
              </a:rPr>
              <a:t>cột</a:t>
            </a:r>
            <a:r>
              <a:rPr lang="en-US" sz="2212" dirty="0">
                <a:solidFill>
                  <a:srgbClr val="094850"/>
                </a:solidFill>
                <a:latin typeface="Inter"/>
                <a:ea typeface="Inter"/>
                <a:cs typeface="Inter"/>
                <a:sym typeface="Inter"/>
              </a:rPr>
              <a:t> ban </a:t>
            </a:r>
            <a:r>
              <a:rPr lang="en-US" sz="2212" dirty="0" err="1">
                <a:solidFill>
                  <a:srgbClr val="094850"/>
                </a:solidFill>
                <a:latin typeface="Inter"/>
                <a:ea typeface="Inter"/>
                <a:cs typeface="Inter"/>
                <a:sym typeface="Inter"/>
              </a:rPr>
              <a:t>đầu</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Bảng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quyết</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định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của</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hàm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Giảm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giá</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được</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tinh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chỉnh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xuống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còn</a:t>
            </a:r>
            <a:r>
              <a:rPr lang="en-US" sz="2212" dirty="0">
                <a:solidFill>
                  <a:srgbClr val="094850"/>
                </a:solidFill>
                <a:latin typeface="Inter"/>
                <a:ea typeface="Inter"/>
                <a:cs typeface="Inter"/>
                <a:sym typeface="Inter"/>
              </a:rPr>
              <a:t> 8 </a:t>
            </a:r>
            <a:r>
              <a:rPr lang="en-US" sz="2212" dirty="0" err="1">
                <a:solidFill>
                  <a:srgbClr val="094850"/>
                </a:solidFill>
                <a:latin typeface="Inter"/>
                <a:ea typeface="Inter"/>
                <a:cs typeface="Inter"/>
                <a:sym typeface="Inter"/>
              </a:rPr>
              <a:t>kịch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bản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và</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hàm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Vận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chuyển</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còn</a:t>
            </a:r>
            <a:r>
              <a:rPr lang="en-US" sz="2212" dirty="0">
                <a:solidFill>
                  <a:srgbClr val="094850"/>
                </a:solidFill>
                <a:latin typeface="Inter"/>
                <a:ea typeface="Inter"/>
                <a:cs typeface="Inter"/>
                <a:sym typeface="Inter"/>
              </a:rPr>
              <a:t> 9 </a:t>
            </a:r>
            <a:r>
              <a:rPr lang="en-US" sz="2212" dirty="0" err="1">
                <a:solidFill>
                  <a:srgbClr val="094850"/>
                </a:solidFill>
                <a:latin typeface="Inter"/>
                <a:ea typeface="Inter"/>
                <a:cs typeface="Inter"/>
                <a:sym typeface="Inter"/>
              </a:rPr>
              <a:t>kịch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bản</a:t>
            </a:r>
            <a:r>
              <a:rPr lang="en-US" sz="2212" dirty="0">
                <a:solidFill>
                  <a:srgbClr val="094850"/>
                </a:solidFill>
                <a:latin typeface="Inter"/>
                <a:ea typeface="Inter"/>
                <a:cs typeface="Inter"/>
                <a:sym typeface="Inter"/>
              </a:rPr>
              <a:t>. Quy </a:t>
            </a:r>
            <a:r>
              <a:rPr lang="en-US" sz="2212" dirty="0" err="1">
                <a:solidFill>
                  <a:srgbClr val="094850"/>
                </a:solidFill>
                <a:latin typeface="Inter"/>
                <a:ea typeface="Inter"/>
                <a:cs typeface="Inter"/>
                <a:sym typeface="Inter"/>
              </a:rPr>
              <a:t>trình</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này</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đảm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bảo</a:t>
            </a:r>
            <a:r>
              <a:rPr lang="en-US" sz="2212" dirty="0">
                <a:solidFill>
                  <a:srgbClr val="094850"/>
                </a:solidFill>
                <a:latin typeface="Inter"/>
                <a:ea typeface="Inter"/>
                <a:cs typeface="Inter"/>
                <a:sym typeface="Inter"/>
              </a:rPr>
              <a:t> bao </a:t>
            </a:r>
            <a:r>
              <a:rPr lang="en-US" sz="2212" dirty="0" err="1">
                <a:solidFill>
                  <a:srgbClr val="094850"/>
                </a:solidFill>
                <a:latin typeface="Inter"/>
                <a:ea typeface="Inter"/>
                <a:cs typeface="Inter"/>
                <a:sym typeface="Inter"/>
              </a:rPr>
              <a:t>phủ</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mọi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luồng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xử</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lý</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cốt</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lõi</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mà</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không</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gây</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dư</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thừa</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mã</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kiểm</a:t>
            </a:r>
            <a:r>
              <a:rPr lang="en-US" sz="2212" dirty="0">
                <a:solidFill>
                  <a:srgbClr val="094850"/>
                </a:solidFill>
                <a:latin typeface="Inter"/>
                <a:ea typeface="Inter"/>
                <a:cs typeface="Inter"/>
                <a:sym typeface="Inter"/>
              </a:rPr>
              <a:t> </a:t>
            </a:r>
            <a:r>
              <a:rPr lang="en-US" sz="2212" dirty="0" err="1">
                <a:solidFill>
                  <a:srgbClr val="094850"/>
                </a:solidFill>
                <a:latin typeface="Inter"/>
                <a:ea typeface="Inter"/>
                <a:cs typeface="Inter"/>
                <a:sym typeface="Inter"/>
              </a:rPr>
              <a:t>thử</a:t>
            </a:r>
            <a:r>
              <a:rPr lang="en-US" sz="2212" dirty="0">
                <a:solidFill>
                  <a:srgbClr val="094850"/>
                </a:solidFill>
                <a:latin typeface="Inter"/>
                <a:ea typeface="Inter"/>
                <a:cs typeface="Inter"/>
                <a:sym typeface="Inter"/>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89E798"/>
        </a:solidFill>
        <a:effectLst/>
      </p:bgPr>
    </p:bg>
    <p:spTree>
      <p:nvGrpSpPr>
        <p:cNvPr id="1" name=""/>
        <p:cNvGrpSpPr/>
        <p:nvPr/>
      </p:nvGrpSpPr>
      <p:grpSpPr>
        <a:xfrm>
          <a:off x="0" y="0"/>
          <a:ext cx="0" cy="0"/>
          <a:chOff x="0" y="0"/>
          <a:chExt cx="0" cy="0"/>
        </a:xfrm>
      </p:grpSpPr>
      <p:sp>
        <p:nvSpPr>
          <p:cNvPr id="2" name="Freeform 2"/>
          <p:cNvSpPr/>
          <p:nvPr/>
        </p:nvSpPr>
        <p:spPr>
          <a:xfrm>
            <a:off x="12031469" y="763742"/>
            <a:ext cx="6020526" cy="8759516"/>
          </a:xfrm>
          <a:custGeom>
            <a:avLst/>
            <a:gdLst/>
            <a:ahLst/>
            <a:cxnLst/>
            <a:rect l="l" t="t" r="r" b="b"/>
            <a:pathLst>
              <a:path w="6020526" h="8759516">
                <a:moveTo>
                  <a:pt x="0" y="0"/>
                </a:moveTo>
                <a:lnTo>
                  <a:pt x="6020526" y="0"/>
                </a:lnTo>
                <a:lnTo>
                  <a:pt x="6020526" y="8759516"/>
                </a:lnTo>
                <a:lnTo>
                  <a:pt x="0" y="8759516"/>
                </a:lnTo>
                <a:lnTo>
                  <a:pt x="0" y="0"/>
                </a:lnTo>
                <a:close/>
              </a:path>
            </a:pathLst>
          </a:custGeom>
          <a:blipFill>
            <a:blip r:embed="rId2"/>
            <a:stretch>
              <a:fillRect/>
            </a:stretch>
          </a:blipFill>
        </p:spPr>
        <p:txBody>
          <a:bodyPr/>
          <a:lstStyle/>
          <a:p>
            <a:endParaRPr lang="en-US"/>
          </a:p>
        </p:txBody>
      </p:sp>
      <p:sp>
        <p:nvSpPr>
          <p:cNvPr id="3" name="TextBox 3"/>
          <p:cNvSpPr txBox="1"/>
          <p:nvPr/>
        </p:nvSpPr>
        <p:spPr>
          <a:xfrm>
            <a:off x="372532" y="339131"/>
            <a:ext cx="11550843" cy="4723523"/>
          </a:xfrm>
          <a:prstGeom prst="rect">
            <a:avLst/>
          </a:prstGeom>
        </p:spPr>
        <p:txBody>
          <a:bodyPr lIns="0" tIns="0" rIns="0" bIns="0" rtlCol="0" anchor="t">
            <a:spAutoFit/>
          </a:bodyPr>
          <a:lstStyle/>
          <a:p>
            <a:pPr algn="just">
              <a:lnSpc>
                <a:spcPts val="2534"/>
              </a:lnSpc>
            </a:pPr>
            <a:r>
              <a:rPr lang="en-US" sz="2112" b="1">
                <a:solidFill>
                  <a:srgbClr val="094850"/>
                </a:solidFill>
                <a:latin typeface="Inter Bold"/>
                <a:ea typeface="Inter Bold"/>
                <a:cs typeface="Inter Bold"/>
                <a:sym typeface="Inter Bold"/>
              </a:rPr>
              <a:t>1. Minh chứng toán học tính độ phức tạp thuật toán (CC)</a:t>
            </a:r>
          </a:p>
          <a:p>
            <a:pPr marL="456039" lvl="1" indent="-228020" algn="just">
              <a:lnSpc>
                <a:spcPts val="2534"/>
              </a:lnSpc>
              <a:buFont typeface="Arial"/>
              <a:buChar char="•"/>
            </a:pPr>
            <a:r>
              <a:rPr lang="en-US" sz="2112">
                <a:solidFill>
                  <a:srgbClr val="094850"/>
                </a:solidFill>
                <a:latin typeface="Inter"/>
                <a:ea typeface="Inter"/>
                <a:cs typeface="Inter"/>
                <a:sym typeface="Inter"/>
              </a:rPr>
              <a:t>Phương pháp đếm nút rẽ nhánh:</a:t>
            </a:r>
          </a:p>
          <a:p>
            <a:pPr marL="912078" lvl="2" indent="-304026" algn="just">
              <a:lnSpc>
                <a:spcPts val="2534"/>
              </a:lnSpc>
              <a:buFont typeface="Arial"/>
              <a:buChar char="⚬"/>
            </a:pPr>
            <a:r>
              <a:rPr lang="en-US" sz="2112">
                <a:solidFill>
                  <a:srgbClr val="094850"/>
                </a:solidFill>
                <a:latin typeface="Inter"/>
                <a:ea typeface="Inter"/>
                <a:cs typeface="Inter"/>
                <a:sym typeface="Inter"/>
              </a:rPr>
              <a:t>Công thức: CC = P + 1 (P là số lượng hình thoi rẽ nhánh).</a:t>
            </a:r>
          </a:p>
          <a:p>
            <a:pPr marL="912078" lvl="2" indent="-304026" algn="just">
              <a:lnSpc>
                <a:spcPts val="2534"/>
              </a:lnSpc>
              <a:buFont typeface="Arial"/>
              <a:buChar char="⚬"/>
            </a:pPr>
            <a:r>
              <a:rPr lang="en-US" sz="2112">
                <a:solidFill>
                  <a:srgbClr val="094850"/>
                </a:solidFill>
                <a:latin typeface="Inter"/>
                <a:ea typeface="Inter"/>
                <a:cs typeface="Inter"/>
                <a:sym typeface="Inter"/>
              </a:rPr>
              <a:t>Áp dụng: CC = 7 + 1 = 8 kịch bản.</a:t>
            </a:r>
          </a:p>
          <a:p>
            <a:pPr marL="456039" lvl="1" indent="-228020" algn="just">
              <a:lnSpc>
                <a:spcPts val="2534"/>
              </a:lnSpc>
              <a:buFont typeface="Arial"/>
              <a:buChar char="•"/>
            </a:pPr>
            <a:r>
              <a:rPr lang="en-US" sz="2112">
                <a:solidFill>
                  <a:srgbClr val="094850"/>
                </a:solidFill>
                <a:latin typeface="Inter"/>
                <a:ea typeface="Inter"/>
                <a:cs typeface="Inter"/>
                <a:sym typeface="Inter"/>
              </a:rPr>
              <a:t>Phương pháp McCabe:</a:t>
            </a:r>
          </a:p>
          <a:p>
            <a:pPr marL="912078" lvl="2" indent="-304026" algn="just">
              <a:lnSpc>
                <a:spcPts val="2534"/>
              </a:lnSpc>
              <a:buFont typeface="Arial"/>
              <a:buChar char="⚬"/>
            </a:pPr>
            <a:r>
              <a:rPr lang="en-US" sz="2112">
                <a:solidFill>
                  <a:srgbClr val="094850"/>
                </a:solidFill>
                <a:latin typeface="Inter"/>
                <a:ea typeface="Inter"/>
                <a:cs typeface="Inter"/>
                <a:sym typeface="Inter"/>
              </a:rPr>
              <a:t>Công thức: CC = E - N + 2 (E là số cạnh, N là số khối).</a:t>
            </a:r>
          </a:p>
          <a:p>
            <a:pPr marL="912078" lvl="2" indent="-304026" algn="just">
              <a:lnSpc>
                <a:spcPts val="2534"/>
              </a:lnSpc>
              <a:buFont typeface="Arial"/>
              <a:buChar char="⚬"/>
            </a:pPr>
            <a:r>
              <a:rPr lang="en-US" sz="2112">
                <a:solidFill>
                  <a:srgbClr val="094850"/>
                </a:solidFill>
                <a:latin typeface="Inter"/>
                <a:ea typeface="Inter"/>
                <a:cs typeface="Inter"/>
                <a:sym typeface="Inter"/>
              </a:rPr>
              <a:t>Áp dụng: CC = 21 - 15 + 2 = 8 kịch bản.</a:t>
            </a:r>
          </a:p>
          <a:p>
            <a:pPr marL="456039" lvl="1" indent="-228020" algn="just">
              <a:lnSpc>
                <a:spcPts val="2534"/>
              </a:lnSpc>
              <a:buFont typeface="Arial"/>
              <a:buChar char="•"/>
            </a:pPr>
            <a:r>
              <a:rPr lang="en-US" sz="2112">
                <a:solidFill>
                  <a:srgbClr val="094850"/>
                </a:solidFill>
                <a:latin typeface="Inter"/>
                <a:ea typeface="Inter"/>
                <a:cs typeface="Inter"/>
                <a:sym typeface="Inter"/>
              </a:rPr>
              <a:t>Kết luận: Hai phương pháp độc lập cho ra kết quả trùng khớp. Hàm Giảm giá yêu cầu thiết kế chính xác 8 kịch bản cơ sở. </a:t>
            </a:r>
          </a:p>
          <a:p>
            <a:pPr algn="just">
              <a:lnSpc>
                <a:spcPts val="2534"/>
              </a:lnSpc>
            </a:pPr>
            <a:r>
              <a:rPr lang="en-US" sz="2112" b="1">
                <a:solidFill>
                  <a:srgbClr val="094850"/>
                </a:solidFill>
                <a:latin typeface="Inter Bold"/>
                <a:ea typeface="Inter Bold"/>
                <a:cs typeface="Inter Bold"/>
                <a:sym typeface="Inter Bold"/>
              </a:rPr>
              <a:t>2. Đánh giá tỷ lệ Bao phủ nhánh (Branch Coverage)</a:t>
            </a:r>
          </a:p>
          <a:p>
            <a:pPr marL="456039" lvl="1" indent="-228020" algn="just">
              <a:lnSpc>
                <a:spcPts val="2534"/>
              </a:lnSpc>
              <a:buFont typeface="Arial"/>
              <a:buChar char="•"/>
            </a:pPr>
            <a:r>
              <a:rPr lang="en-US" sz="2112">
                <a:solidFill>
                  <a:srgbClr val="094850"/>
                </a:solidFill>
                <a:latin typeface="Inter"/>
                <a:ea typeface="Inter"/>
                <a:cs typeface="Inter"/>
                <a:sym typeface="Inter"/>
              </a:rPr>
              <a:t>Tổng số nhánh cần phủ: 2 x Số điều kiện = 2 x 7 = 14 nhánh (Đúng/Sai). </a:t>
            </a:r>
          </a:p>
          <a:p>
            <a:pPr marL="456039" lvl="1" indent="-228020" algn="just">
              <a:lnSpc>
                <a:spcPts val="2534"/>
              </a:lnSpc>
              <a:buFont typeface="Arial"/>
              <a:buChar char="•"/>
            </a:pPr>
            <a:r>
              <a:rPr lang="en-US" sz="2112">
                <a:solidFill>
                  <a:srgbClr val="094850"/>
                </a:solidFill>
                <a:latin typeface="Inter"/>
                <a:ea typeface="Inter"/>
                <a:cs typeface="Inter"/>
                <a:sym typeface="Inter"/>
              </a:rPr>
              <a:t>Công thức đo lường: Branch Coverage = (Số nhánh đã đi qua / Tổng số nhánh) x 100%. </a:t>
            </a:r>
          </a:p>
          <a:p>
            <a:pPr marL="456039" lvl="1" indent="-228020" algn="just">
              <a:lnSpc>
                <a:spcPts val="2534"/>
              </a:lnSpc>
              <a:buFont typeface="Arial"/>
              <a:buChar char="•"/>
            </a:pPr>
            <a:r>
              <a:rPr lang="en-US" sz="2112">
                <a:solidFill>
                  <a:srgbClr val="094850"/>
                </a:solidFill>
                <a:latin typeface="Inter"/>
                <a:ea typeface="Inter"/>
                <a:cs typeface="Inter"/>
                <a:sym typeface="Inter"/>
              </a:rPr>
              <a:t>Kết quả thực tế: Branch Coverage = (14 / 14) x 100% = 100%.</a:t>
            </a:r>
          </a:p>
          <a:p>
            <a:pPr marL="456039" lvl="1" indent="-228020" algn="just">
              <a:lnSpc>
                <a:spcPts val="2534"/>
              </a:lnSpc>
              <a:buFont typeface="Arial"/>
              <a:buChar char="•"/>
            </a:pPr>
            <a:r>
              <a:rPr lang="en-US" sz="2112">
                <a:solidFill>
                  <a:srgbClr val="094850"/>
                </a:solidFill>
                <a:latin typeface="Inter"/>
                <a:ea typeface="Inter"/>
                <a:cs typeface="Inter"/>
                <a:sym typeface="Inter"/>
              </a:rPr>
              <a:t>Khẳng định: Bộ 8 kịch bản đã quét sạch toàn bộ 14 con đường rẽ nhánh của mã nguồn, đảm bảo không bỏ sót yêu cầu nghiệp vụ.</a:t>
            </a:r>
          </a:p>
        </p:txBody>
      </p:sp>
      <p:sp>
        <p:nvSpPr>
          <p:cNvPr id="4" name="Freeform 4"/>
          <p:cNvSpPr/>
          <p:nvPr/>
        </p:nvSpPr>
        <p:spPr>
          <a:xfrm>
            <a:off x="1444121" y="5156816"/>
            <a:ext cx="9407664" cy="4932010"/>
          </a:xfrm>
          <a:custGeom>
            <a:avLst/>
            <a:gdLst/>
            <a:ahLst/>
            <a:cxnLst/>
            <a:rect l="l" t="t" r="r" b="b"/>
            <a:pathLst>
              <a:path w="9407664" h="4932010">
                <a:moveTo>
                  <a:pt x="0" y="0"/>
                </a:moveTo>
                <a:lnTo>
                  <a:pt x="9407664" y="0"/>
                </a:lnTo>
                <a:lnTo>
                  <a:pt x="9407664" y="4932010"/>
                </a:lnTo>
                <a:lnTo>
                  <a:pt x="0" y="4932010"/>
                </a:lnTo>
                <a:lnTo>
                  <a:pt x="0" y="0"/>
                </a:lnTo>
                <a:close/>
              </a:path>
            </a:pathLst>
          </a:custGeom>
          <a:blipFill>
            <a:blip r:embed="rId3"/>
            <a:stretch>
              <a:fillRect t="-1988"/>
            </a:stretch>
          </a:blipFill>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89E798"/>
        </a:solidFill>
        <a:effectLst/>
      </p:bgPr>
    </p:bg>
    <p:spTree>
      <p:nvGrpSpPr>
        <p:cNvPr id="1" name=""/>
        <p:cNvGrpSpPr/>
        <p:nvPr/>
      </p:nvGrpSpPr>
      <p:grpSpPr>
        <a:xfrm>
          <a:off x="0" y="0"/>
          <a:ext cx="0" cy="0"/>
          <a:chOff x="0" y="0"/>
          <a:chExt cx="0" cy="0"/>
        </a:xfrm>
      </p:grpSpPr>
      <p:sp>
        <p:nvSpPr>
          <p:cNvPr id="2" name="TextBox 2"/>
          <p:cNvSpPr txBox="1"/>
          <p:nvPr/>
        </p:nvSpPr>
        <p:spPr>
          <a:xfrm>
            <a:off x="344100" y="322914"/>
            <a:ext cx="11731001" cy="5037790"/>
          </a:xfrm>
          <a:prstGeom prst="rect">
            <a:avLst/>
          </a:prstGeom>
        </p:spPr>
        <p:txBody>
          <a:bodyPr lIns="0" tIns="0" rIns="0" bIns="0" rtlCol="0" anchor="t">
            <a:spAutoFit/>
          </a:bodyPr>
          <a:lstStyle/>
          <a:p>
            <a:pPr algn="just">
              <a:lnSpc>
                <a:spcPts val="2534"/>
              </a:lnSpc>
            </a:pPr>
            <a:r>
              <a:rPr lang="en-US" sz="2112" b="1">
                <a:solidFill>
                  <a:srgbClr val="094850"/>
                </a:solidFill>
                <a:latin typeface="Inter Bold"/>
                <a:ea typeface="Inter Bold"/>
                <a:cs typeface="Inter Bold"/>
                <a:sym typeface="Inter Bold"/>
              </a:rPr>
              <a:t>1. Minh chứng Toán học tính Độ phức tạp thuật toán (CC)</a:t>
            </a:r>
          </a:p>
          <a:p>
            <a:pPr marL="456039" lvl="1" indent="-228020" algn="just">
              <a:lnSpc>
                <a:spcPts val="2534"/>
              </a:lnSpc>
              <a:buFont typeface="Arial"/>
              <a:buChar char="•"/>
            </a:pPr>
            <a:r>
              <a:rPr lang="en-US" sz="2112">
                <a:solidFill>
                  <a:srgbClr val="094850"/>
                </a:solidFill>
                <a:latin typeface="Inter"/>
                <a:ea typeface="Inter"/>
                <a:cs typeface="Inter"/>
                <a:sym typeface="Inter"/>
              </a:rPr>
              <a:t>Phương pháp đếm nút rẽ nhánh:</a:t>
            </a:r>
          </a:p>
          <a:p>
            <a:pPr marL="912078" lvl="2" indent="-304026" algn="just">
              <a:lnSpc>
                <a:spcPts val="2534"/>
              </a:lnSpc>
              <a:buFont typeface="Arial"/>
              <a:buChar char="⚬"/>
            </a:pPr>
            <a:r>
              <a:rPr lang="en-US" sz="2112">
                <a:solidFill>
                  <a:srgbClr val="094850"/>
                </a:solidFill>
                <a:latin typeface="Inter"/>
                <a:ea typeface="Inter"/>
                <a:cs typeface="Inter"/>
                <a:sym typeface="Inter"/>
              </a:rPr>
              <a:t>Công thức: CC = P + 1 (P là số lượng hình thoi rẽ nhánh).</a:t>
            </a:r>
          </a:p>
          <a:p>
            <a:pPr marL="912078" lvl="2" indent="-304026" algn="just">
              <a:lnSpc>
                <a:spcPts val="2534"/>
              </a:lnSpc>
              <a:buFont typeface="Arial"/>
              <a:buChar char="⚬"/>
            </a:pPr>
            <a:r>
              <a:rPr lang="en-US" sz="2112">
                <a:solidFill>
                  <a:srgbClr val="094850"/>
                </a:solidFill>
                <a:latin typeface="Inter"/>
                <a:ea typeface="Inter"/>
                <a:cs typeface="Inter"/>
                <a:sym typeface="Inter"/>
              </a:rPr>
              <a:t>Áp dụng: CC = 8 + 1 = 9 kịch bản.</a:t>
            </a:r>
          </a:p>
          <a:p>
            <a:pPr marL="456039" lvl="1" indent="-228020" algn="just">
              <a:lnSpc>
                <a:spcPts val="2534"/>
              </a:lnSpc>
              <a:buFont typeface="Arial"/>
              <a:buChar char="•"/>
            </a:pPr>
            <a:r>
              <a:rPr lang="en-US" sz="2112">
                <a:solidFill>
                  <a:srgbClr val="094850"/>
                </a:solidFill>
                <a:latin typeface="Inter"/>
                <a:ea typeface="Inter"/>
                <a:cs typeface="Inter"/>
                <a:sym typeface="Inter"/>
              </a:rPr>
              <a:t>Phương pháp McCabe:</a:t>
            </a:r>
          </a:p>
          <a:p>
            <a:pPr marL="912078" lvl="2" indent="-304026" algn="just">
              <a:lnSpc>
                <a:spcPts val="2534"/>
              </a:lnSpc>
              <a:buFont typeface="Arial"/>
              <a:buChar char="⚬"/>
            </a:pPr>
            <a:r>
              <a:rPr lang="en-US" sz="2112">
                <a:solidFill>
                  <a:srgbClr val="094850"/>
                </a:solidFill>
                <a:latin typeface="Inter"/>
                <a:ea typeface="Inter"/>
                <a:cs typeface="Inter"/>
                <a:sym typeface="Inter"/>
              </a:rPr>
              <a:t>Công thức: CC = E - N + 2 (E là số cạnh, N là số khối).</a:t>
            </a:r>
          </a:p>
          <a:p>
            <a:pPr marL="912078" lvl="2" indent="-304026" algn="just">
              <a:lnSpc>
                <a:spcPts val="2534"/>
              </a:lnSpc>
              <a:buFont typeface="Arial"/>
              <a:buChar char="⚬"/>
            </a:pPr>
            <a:r>
              <a:rPr lang="en-US" sz="2112">
                <a:solidFill>
                  <a:srgbClr val="094850"/>
                </a:solidFill>
                <a:latin typeface="Inter"/>
                <a:ea typeface="Inter"/>
                <a:cs typeface="Inter"/>
                <a:sym typeface="Inter"/>
              </a:rPr>
              <a:t>Áp dụng: CC = 24 - 17 + 2 = 9 kịch bản.</a:t>
            </a:r>
          </a:p>
          <a:p>
            <a:pPr marL="456039" lvl="1" indent="-228020" algn="just">
              <a:lnSpc>
                <a:spcPts val="2534"/>
              </a:lnSpc>
              <a:buFont typeface="Arial"/>
              <a:buChar char="•"/>
            </a:pPr>
            <a:r>
              <a:rPr lang="en-US" sz="2112">
                <a:solidFill>
                  <a:srgbClr val="094850"/>
                </a:solidFill>
                <a:latin typeface="Inter"/>
                <a:ea typeface="Inter"/>
                <a:cs typeface="Inter"/>
                <a:sym typeface="Inter"/>
              </a:rPr>
              <a:t>Kết luận: Hai phương pháp độc lập cho ra kết quả trùng khớp. Hàm Vận chuyển yêu cầu thiết kế chính xác 9 kịch bản cơ sở. </a:t>
            </a:r>
          </a:p>
          <a:p>
            <a:pPr algn="just">
              <a:lnSpc>
                <a:spcPts val="2534"/>
              </a:lnSpc>
            </a:pPr>
            <a:r>
              <a:rPr lang="en-US" sz="2112" b="1">
                <a:solidFill>
                  <a:srgbClr val="094850"/>
                </a:solidFill>
                <a:latin typeface="Inter Bold"/>
                <a:ea typeface="Inter Bold"/>
                <a:cs typeface="Inter Bold"/>
                <a:sym typeface="Inter Bold"/>
              </a:rPr>
              <a:t>2. Đánh giá Tỷ lệ Bao phủ nhánh (Branch Coverage)</a:t>
            </a:r>
          </a:p>
          <a:p>
            <a:pPr marL="456039" lvl="1" indent="-228020" algn="just">
              <a:lnSpc>
                <a:spcPts val="2534"/>
              </a:lnSpc>
              <a:buFont typeface="Arial"/>
              <a:buChar char="•"/>
            </a:pPr>
            <a:r>
              <a:rPr lang="en-US" sz="2112">
                <a:solidFill>
                  <a:srgbClr val="094850"/>
                </a:solidFill>
                <a:latin typeface="Inter"/>
                <a:ea typeface="Inter"/>
                <a:cs typeface="Inter"/>
                <a:sym typeface="Inter"/>
              </a:rPr>
              <a:t>Tổng số nhánh cần phủ: 2 x Số điều kiện = 2 x 8 = 16 nhánh (Đúng/Sai). </a:t>
            </a:r>
          </a:p>
          <a:p>
            <a:pPr marL="456039" lvl="1" indent="-228020" algn="just">
              <a:lnSpc>
                <a:spcPts val="2534"/>
              </a:lnSpc>
              <a:buFont typeface="Arial"/>
              <a:buChar char="•"/>
            </a:pPr>
            <a:r>
              <a:rPr lang="en-US" sz="2112">
                <a:solidFill>
                  <a:srgbClr val="094850"/>
                </a:solidFill>
                <a:latin typeface="Inter"/>
                <a:ea typeface="Inter"/>
                <a:cs typeface="Inter"/>
                <a:sym typeface="Inter"/>
              </a:rPr>
              <a:t>Công thức đo lường: Branch Coverage = (Số nhánh đã đi qua / Tổng số nhánh) x 100%. </a:t>
            </a:r>
          </a:p>
          <a:p>
            <a:pPr marL="456039" lvl="1" indent="-228020" algn="just">
              <a:lnSpc>
                <a:spcPts val="2534"/>
              </a:lnSpc>
              <a:buFont typeface="Arial"/>
              <a:buChar char="•"/>
            </a:pPr>
            <a:r>
              <a:rPr lang="en-US" sz="2112">
                <a:solidFill>
                  <a:srgbClr val="094850"/>
                </a:solidFill>
                <a:latin typeface="Inter"/>
                <a:ea typeface="Inter"/>
                <a:cs typeface="Inter"/>
                <a:sym typeface="Inter"/>
              </a:rPr>
              <a:t>Kết quả thực tế: Branch Coverage = (16 / 16) x 100% = 100%. </a:t>
            </a:r>
          </a:p>
          <a:p>
            <a:pPr marL="456039" lvl="1" indent="-228020" algn="just">
              <a:lnSpc>
                <a:spcPts val="2534"/>
              </a:lnSpc>
              <a:buFont typeface="Arial"/>
              <a:buChar char="•"/>
            </a:pPr>
            <a:r>
              <a:rPr lang="en-US" sz="2112">
                <a:solidFill>
                  <a:srgbClr val="094850"/>
                </a:solidFill>
                <a:latin typeface="Inter"/>
                <a:ea typeface="Inter"/>
                <a:cs typeface="Inter"/>
                <a:sym typeface="Inter"/>
              </a:rPr>
              <a:t>Khẳng định: Bộ 9 kịch bản đã quét sạch toàn bộ 16 con đường rẽ nhánh của mã nguồn, đảm bảo không bỏ sót yêu cầu nghiệp vụ.</a:t>
            </a:r>
          </a:p>
          <a:p>
            <a:pPr algn="just">
              <a:lnSpc>
                <a:spcPts val="2534"/>
              </a:lnSpc>
            </a:pPr>
            <a:endParaRPr lang="en-US" sz="2112">
              <a:solidFill>
                <a:srgbClr val="094850"/>
              </a:solidFill>
              <a:latin typeface="Inter"/>
              <a:ea typeface="Inter"/>
              <a:cs typeface="Inter"/>
              <a:sym typeface="Inter"/>
            </a:endParaRPr>
          </a:p>
        </p:txBody>
      </p:sp>
      <p:sp>
        <p:nvSpPr>
          <p:cNvPr id="3" name="Freeform 3"/>
          <p:cNvSpPr/>
          <p:nvPr/>
        </p:nvSpPr>
        <p:spPr>
          <a:xfrm>
            <a:off x="12381369" y="338975"/>
            <a:ext cx="5128830" cy="9609049"/>
          </a:xfrm>
          <a:custGeom>
            <a:avLst/>
            <a:gdLst/>
            <a:ahLst/>
            <a:cxnLst/>
            <a:rect l="l" t="t" r="r" b="b"/>
            <a:pathLst>
              <a:path w="5128830" h="9609049">
                <a:moveTo>
                  <a:pt x="0" y="0"/>
                </a:moveTo>
                <a:lnTo>
                  <a:pt x="5128830" y="0"/>
                </a:lnTo>
                <a:lnTo>
                  <a:pt x="5128830" y="9609050"/>
                </a:lnTo>
                <a:lnTo>
                  <a:pt x="0" y="9609050"/>
                </a:lnTo>
                <a:lnTo>
                  <a:pt x="0" y="0"/>
                </a:lnTo>
                <a:close/>
              </a:path>
            </a:pathLst>
          </a:custGeom>
          <a:blipFill>
            <a:blip r:embed="rId2"/>
            <a:stretch>
              <a:fillRect/>
            </a:stretch>
          </a:blipFill>
        </p:spPr>
        <p:txBody>
          <a:bodyPr/>
          <a:lstStyle/>
          <a:p>
            <a:endParaRPr lang="en-US"/>
          </a:p>
        </p:txBody>
      </p:sp>
      <p:sp>
        <p:nvSpPr>
          <p:cNvPr id="4" name="Freeform 4"/>
          <p:cNvSpPr/>
          <p:nvPr/>
        </p:nvSpPr>
        <p:spPr>
          <a:xfrm>
            <a:off x="2015349" y="5143500"/>
            <a:ext cx="8887773" cy="4977756"/>
          </a:xfrm>
          <a:custGeom>
            <a:avLst/>
            <a:gdLst/>
            <a:ahLst/>
            <a:cxnLst/>
            <a:rect l="l" t="t" r="r" b="b"/>
            <a:pathLst>
              <a:path w="8887773" h="4977756">
                <a:moveTo>
                  <a:pt x="0" y="0"/>
                </a:moveTo>
                <a:lnTo>
                  <a:pt x="8887773" y="0"/>
                </a:lnTo>
                <a:lnTo>
                  <a:pt x="8887773" y="4977756"/>
                </a:lnTo>
                <a:lnTo>
                  <a:pt x="0" y="4977756"/>
                </a:lnTo>
                <a:lnTo>
                  <a:pt x="0" y="0"/>
                </a:lnTo>
                <a:close/>
              </a:path>
            </a:pathLst>
          </a:custGeom>
          <a:blipFill>
            <a:blip r:embed="rId3"/>
            <a:stretch>
              <a:fillRect t="-2219"/>
            </a:stretch>
          </a:blipFill>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TextBox 2"/>
          <p:cNvSpPr txBox="1"/>
          <p:nvPr/>
        </p:nvSpPr>
        <p:spPr>
          <a:xfrm>
            <a:off x="4917643" y="295120"/>
            <a:ext cx="7047481" cy="733580"/>
          </a:xfrm>
          <a:prstGeom prst="rect">
            <a:avLst/>
          </a:prstGeom>
        </p:spPr>
        <p:txBody>
          <a:bodyPr lIns="0" tIns="0" rIns="0" bIns="0" rtlCol="0" anchor="t">
            <a:spAutoFit/>
          </a:bodyPr>
          <a:lstStyle/>
          <a:p>
            <a:pPr algn="l">
              <a:lnSpc>
                <a:spcPts val="5447"/>
              </a:lnSpc>
            </a:pPr>
            <a:r>
              <a:rPr lang="en-US" sz="5447">
                <a:solidFill>
                  <a:srgbClr val="094850"/>
                </a:solidFill>
                <a:latin typeface="Inter"/>
                <a:ea typeface="Inter"/>
                <a:cs typeface="Inter"/>
                <a:sym typeface="Inter"/>
              </a:rPr>
              <a:t>THỰC THI KIỂM THỬ</a:t>
            </a:r>
          </a:p>
        </p:txBody>
      </p:sp>
      <p:sp>
        <p:nvSpPr>
          <p:cNvPr id="3" name="TextBox 3"/>
          <p:cNvSpPr txBox="1"/>
          <p:nvPr/>
        </p:nvSpPr>
        <p:spPr>
          <a:xfrm>
            <a:off x="612537" y="1165712"/>
            <a:ext cx="7972973" cy="8448901"/>
          </a:xfrm>
          <a:prstGeom prst="rect">
            <a:avLst/>
          </a:prstGeom>
        </p:spPr>
        <p:txBody>
          <a:bodyPr lIns="0" tIns="0" rIns="0" bIns="0" rtlCol="0" anchor="t">
            <a:spAutoFit/>
          </a:bodyPr>
          <a:lstStyle/>
          <a:p>
            <a:pPr algn="l">
              <a:lnSpc>
                <a:spcPts val="2849"/>
              </a:lnSpc>
            </a:pPr>
            <a:r>
              <a:rPr lang="en-US" sz="2192" b="1">
                <a:solidFill>
                  <a:srgbClr val="000000"/>
                </a:solidFill>
                <a:latin typeface="Inter Bold"/>
                <a:ea typeface="Inter Bold"/>
                <a:cs typeface="Inter Bold"/>
                <a:sym typeface="Inter Bold"/>
              </a:rPr>
              <a:t>1. Nền tảng và kỹ thuật thực thi</a:t>
            </a:r>
          </a:p>
          <a:p>
            <a:pPr marL="473253" lvl="1" indent="-236627" algn="l">
              <a:lnSpc>
                <a:spcPts val="2849"/>
              </a:lnSpc>
              <a:buFont typeface="Arial"/>
              <a:buChar char="•"/>
            </a:pPr>
            <a:r>
              <a:rPr lang="en-US" sz="2192">
                <a:solidFill>
                  <a:srgbClr val="000000"/>
                </a:solidFill>
                <a:latin typeface="Inter"/>
                <a:ea typeface="Inter"/>
                <a:cs typeface="Inter"/>
                <a:sym typeface="Inter"/>
              </a:rPr>
              <a:t>Công cụ và Môi trường: Mã nguồn được phát triển trên IntelliJ, quản lý thư viện tập trung qua tệp cấu hình pom xml với bộ khung Java 17, Maven và JUnit 5.</a:t>
            </a:r>
          </a:p>
          <a:p>
            <a:pPr marL="473253" lvl="1" indent="-236627" algn="l">
              <a:lnSpc>
                <a:spcPts val="2849"/>
              </a:lnSpc>
              <a:buFont typeface="Arial"/>
              <a:buChar char="•"/>
            </a:pPr>
            <a:r>
              <a:rPr lang="en-US" sz="2192">
                <a:solidFill>
                  <a:srgbClr val="000000"/>
                </a:solidFill>
                <a:latin typeface="Inter"/>
                <a:ea typeface="Inter"/>
                <a:cs typeface="Inter"/>
                <a:sym typeface="Inter"/>
              </a:rPr>
              <a:t>Cấp độ kiểm thử: Mã hóa 17 kịch bản từ Excel thành các phương thức Unit Test độc lập. Tiếp đó, ứng dụng kỹ thuật Suite Testing cùng từ khóa báo hiệu @Suite để đóng gói toàn diện.</a:t>
            </a:r>
          </a:p>
          <a:p>
            <a:pPr marL="473253" lvl="1" indent="-236627" algn="l">
              <a:lnSpc>
                <a:spcPts val="2849"/>
              </a:lnSpc>
              <a:buFont typeface="Arial"/>
              <a:buChar char="•"/>
            </a:pPr>
            <a:r>
              <a:rPr lang="en-US" sz="2192">
                <a:solidFill>
                  <a:srgbClr val="000000"/>
                </a:solidFill>
                <a:latin typeface="Inter"/>
                <a:ea typeface="Inter"/>
                <a:cs typeface="Inter"/>
                <a:sym typeface="Inter"/>
              </a:rPr>
              <a:t>Thực thi: Chỉ cần lệnh mvn test để tự động kích hoạt toàn bộ hệ thống.</a:t>
            </a:r>
          </a:p>
          <a:p>
            <a:pPr algn="l">
              <a:lnSpc>
                <a:spcPts val="2849"/>
              </a:lnSpc>
            </a:pPr>
            <a:r>
              <a:rPr lang="en-US" sz="2192" b="1">
                <a:solidFill>
                  <a:srgbClr val="000000"/>
                </a:solidFill>
                <a:latin typeface="Inter Bold"/>
                <a:ea typeface="Inter Bold"/>
                <a:cs typeface="Inter Bold"/>
                <a:sym typeface="Inter Bold"/>
              </a:rPr>
              <a:t>2. Đo lường và thống kê kết quả</a:t>
            </a:r>
          </a:p>
          <a:p>
            <a:pPr marL="473253" lvl="1" indent="-236627" algn="l">
              <a:lnSpc>
                <a:spcPts val="2849"/>
              </a:lnSpc>
              <a:buFont typeface="Arial"/>
              <a:buChar char="•"/>
            </a:pPr>
            <a:r>
              <a:rPr lang="en-US" sz="2192">
                <a:solidFill>
                  <a:srgbClr val="000000"/>
                </a:solidFill>
                <a:latin typeface="Inter"/>
                <a:ea typeface="Inter"/>
                <a:cs typeface="Inter"/>
                <a:sym typeface="Inter"/>
              </a:rPr>
              <a:t>Hiệu suất và Độ phủ: Tổng thời gian quét sạch 17 kịch bản chưa tới 1 giây. Chỉ số bao phủ mã nguồn Code Coverage do công cụ JaCoCo đo lường đạt tuyệt đối 100 phần trăm.</a:t>
            </a:r>
          </a:p>
          <a:p>
            <a:pPr marL="473253" lvl="1" indent="-236627" algn="l">
              <a:lnSpc>
                <a:spcPts val="2849"/>
              </a:lnSpc>
              <a:buFont typeface="Arial"/>
              <a:buChar char="•"/>
            </a:pPr>
            <a:r>
              <a:rPr lang="en-US" sz="2192">
                <a:solidFill>
                  <a:srgbClr val="000000"/>
                </a:solidFill>
                <a:latin typeface="Inter"/>
                <a:ea typeface="Inter"/>
                <a:cs typeface="Inter"/>
                <a:sym typeface="Inter"/>
              </a:rPr>
              <a:t>Trạng thái: Tỷ lệ thành công đạt 76.5 phần trăm với 13 ca Đạt và 4 ca Lỗi.</a:t>
            </a:r>
          </a:p>
          <a:p>
            <a:pPr algn="l">
              <a:lnSpc>
                <a:spcPts val="2849"/>
              </a:lnSpc>
            </a:pPr>
            <a:r>
              <a:rPr lang="en-US" sz="2192" b="1">
                <a:solidFill>
                  <a:srgbClr val="000000"/>
                </a:solidFill>
                <a:latin typeface="Inter Bold"/>
                <a:ea typeface="Inter Bold"/>
                <a:cs typeface="Inter Bold"/>
                <a:sym typeface="Inter Bold"/>
              </a:rPr>
              <a:t>3. Đánh giá ưu điểm tự động hóa</a:t>
            </a:r>
          </a:p>
          <a:p>
            <a:pPr marL="473253" lvl="1" indent="-236627" algn="l">
              <a:lnSpc>
                <a:spcPts val="2849"/>
              </a:lnSpc>
              <a:buFont typeface="Arial"/>
              <a:buChar char="•"/>
            </a:pPr>
            <a:r>
              <a:rPr lang="en-US" sz="2192">
                <a:solidFill>
                  <a:srgbClr val="000000"/>
                </a:solidFill>
                <a:latin typeface="Inter"/>
                <a:ea typeface="Inter"/>
                <a:cs typeface="Inter"/>
                <a:sym typeface="Inter"/>
              </a:rPr>
              <a:t>Tính nhất quán: Đảm bảo kết quả đồng nhất tuyệt đối dù thực thi lại hàng trăm lần.</a:t>
            </a:r>
          </a:p>
          <a:p>
            <a:pPr marL="473253" lvl="1" indent="-236627" algn="l">
              <a:lnSpc>
                <a:spcPts val="2849"/>
              </a:lnSpc>
              <a:buFont typeface="Arial"/>
              <a:buChar char="•"/>
            </a:pPr>
            <a:r>
              <a:rPr lang="en-US" sz="2192">
                <a:solidFill>
                  <a:srgbClr val="000000"/>
                </a:solidFill>
                <a:latin typeface="Inter"/>
                <a:ea typeface="Inter"/>
                <a:cs typeface="Inter"/>
                <a:sym typeface="Inter"/>
              </a:rPr>
              <a:t>Tối ưu kiểm thử hồi quy: Khả năng tái chạy toàn bộ bộ test ngay lập tức sau khi lập trình viên sửa lỗi, giúp xác minh mã nguồn mới không làm hỏng các luồng chức năng cũ.</a:t>
            </a:r>
          </a:p>
        </p:txBody>
      </p:sp>
      <p:sp>
        <p:nvSpPr>
          <p:cNvPr id="4" name="Freeform 4"/>
          <p:cNvSpPr/>
          <p:nvPr/>
        </p:nvSpPr>
        <p:spPr>
          <a:xfrm>
            <a:off x="9602282" y="6764922"/>
            <a:ext cx="7230469" cy="3074204"/>
          </a:xfrm>
          <a:custGeom>
            <a:avLst/>
            <a:gdLst/>
            <a:ahLst/>
            <a:cxnLst/>
            <a:rect l="l" t="t" r="r" b="b"/>
            <a:pathLst>
              <a:path w="7230469" h="3074204">
                <a:moveTo>
                  <a:pt x="0" y="0"/>
                </a:moveTo>
                <a:lnTo>
                  <a:pt x="7230469" y="0"/>
                </a:lnTo>
                <a:lnTo>
                  <a:pt x="7230469" y="3074205"/>
                </a:lnTo>
                <a:lnTo>
                  <a:pt x="0" y="3074205"/>
                </a:lnTo>
                <a:lnTo>
                  <a:pt x="0" y="0"/>
                </a:lnTo>
                <a:close/>
              </a:path>
            </a:pathLst>
          </a:custGeom>
          <a:blipFill>
            <a:blip r:embed="rId2"/>
            <a:stretch>
              <a:fillRect t="-38766"/>
            </a:stretch>
          </a:blipFill>
        </p:spPr>
        <p:txBody>
          <a:bodyPr/>
          <a:lstStyle/>
          <a:p>
            <a:endParaRPr lang="en-US"/>
          </a:p>
        </p:txBody>
      </p:sp>
      <p:sp>
        <p:nvSpPr>
          <p:cNvPr id="5" name="Freeform 5"/>
          <p:cNvSpPr/>
          <p:nvPr/>
        </p:nvSpPr>
        <p:spPr>
          <a:xfrm>
            <a:off x="9602282" y="1106731"/>
            <a:ext cx="8220848" cy="4367326"/>
          </a:xfrm>
          <a:custGeom>
            <a:avLst/>
            <a:gdLst/>
            <a:ahLst/>
            <a:cxnLst/>
            <a:rect l="l" t="t" r="r" b="b"/>
            <a:pathLst>
              <a:path w="8220848" h="4367326">
                <a:moveTo>
                  <a:pt x="0" y="0"/>
                </a:moveTo>
                <a:lnTo>
                  <a:pt x="8220848" y="0"/>
                </a:lnTo>
                <a:lnTo>
                  <a:pt x="8220848" y="4367326"/>
                </a:lnTo>
                <a:lnTo>
                  <a:pt x="0" y="4367326"/>
                </a:lnTo>
                <a:lnTo>
                  <a:pt x="0" y="0"/>
                </a:lnTo>
                <a:close/>
              </a:path>
            </a:pathLst>
          </a:custGeom>
          <a:blipFill>
            <a:blip r:embed="rId3"/>
            <a:stretch>
              <a:fillRect/>
            </a:stretch>
          </a:blipFill>
        </p:spPr>
        <p:txBody>
          <a:bodyPr/>
          <a:lstStyle/>
          <a:p>
            <a:endParaRPr lang="en-US"/>
          </a:p>
        </p:txBody>
      </p:sp>
      <p:sp>
        <p:nvSpPr>
          <p:cNvPr id="6" name="Freeform 6"/>
          <p:cNvSpPr/>
          <p:nvPr/>
        </p:nvSpPr>
        <p:spPr>
          <a:xfrm>
            <a:off x="9602282" y="5552087"/>
            <a:ext cx="8220848" cy="945398"/>
          </a:xfrm>
          <a:custGeom>
            <a:avLst/>
            <a:gdLst/>
            <a:ahLst/>
            <a:cxnLst/>
            <a:rect l="l" t="t" r="r" b="b"/>
            <a:pathLst>
              <a:path w="8220848" h="945398">
                <a:moveTo>
                  <a:pt x="0" y="0"/>
                </a:moveTo>
                <a:lnTo>
                  <a:pt x="8220848" y="0"/>
                </a:lnTo>
                <a:lnTo>
                  <a:pt x="8220848" y="945398"/>
                </a:lnTo>
                <a:lnTo>
                  <a:pt x="0" y="945398"/>
                </a:lnTo>
                <a:lnTo>
                  <a:pt x="0" y="0"/>
                </a:lnTo>
                <a:close/>
              </a:path>
            </a:pathLst>
          </a:custGeom>
          <a:blipFill>
            <a:blip r:embed="rId4"/>
            <a:stretch>
              <a:fillRect/>
            </a:stretch>
          </a:blipFill>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a:off x="656157" y="1482054"/>
            <a:ext cx="16975687" cy="4583435"/>
          </a:xfrm>
          <a:custGeom>
            <a:avLst/>
            <a:gdLst/>
            <a:ahLst/>
            <a:cxnLst/>
            <a:rect l="l" t="t" r="r" b="b"/>
            <a:pathLst>
              <a:path w="16975687" h="4583435">
                <a:moveTo>
                  <a:pt x="0" y="0"/>
                </a:moveTo>
                <a:lnTo>
                  <a:pt x="16975686" y="0"/>
                </a:lnTo>
                <a:lnTo>
                  <a:pt x="16975686" y="4583436"/>
                </a:lnTo>
                <a:lnTo>
                  <a:pt x="0" y="4583436"/>
                </a:lnTo>
                <a:lnTo>
                  <a:pt x="0" y="0"/>
                </a:lnTo>
                <a:close/>
              </a:path>
            </a:pathLst>
          </a:custGeom>
          <a:blipFill>
            <a:blip r:embed="rId2"/>
            <a:stretch>
              <a:fillRect/>
            </a:stretch>
          </a:blipFill>
        </p:spPr>
        <p:txBody>
          <a:bodyPr/>
          <a:lstStyle/>
          <a:p>
            <a:endParaRPr lang="en-US"/>
          </a:p>
        </p:txBody>
      </p:sp>
      <p:sp>
        <p:nvSpPr>
          <p:cNvPr id="3" name="TextBox 3"/>
          <p:cNvSpPr txBox="1"/>
          <p:nvPr/>
        </p:nvSpPr>
        <p:spPr>
          <a:xfrm>
            <a:off x="6703128" y="371282"/>
            <a:ext cx="4881744" cy="896356"/>
          </a:xfrm>
          <a:prstGeom prst="rect">
            <a:avLst/>
          </a:prstGeom>
        </p:spPr>
        <p:txBody>
          <a:bodyPr lIns="0" tIns="0" rIns="0" bIns="0" rtlCol="0" anchor="t">
            <a:spAutoFit/>
          </a:bodyPr>
          <a:lstStyle/>
          <a:p>
            <a:pPr algn="l">
              <a:lnSpc>
                <a:spcPts val="7010"/>
              </a:lnSpc>
            </a:pPr>
            <a:r>
              <a:rPr lang="en-US" sz="5842">
                <a:solidFill>
                  <a:srgbClr val="094850"/>
                </a:solidFill>
                <a:latin typeface="Inter"/>
                <a:ea typeface="Inter"/>
                <a:cs typeface="Inter"/>
                <a:sym typeface="Inter"/>
              </a:rPr>
              <a:t>BÁO CÁO LỖI</a:t>
            </a:r>
          </a:p>
        </p:txBody>
      </p:sp>
      <p:sp>
        <p:nvSpPr>
          <p:cNvPr id="4" name="TextBox 4"/>
          <p:cNvSpPr txBox="1"/>
          <p:nvPr/>
        </p:nvSpPr>
        <p:spPr>
          <a:xfrm>
            <a:off x="1459482" y="6255990"/>
            <a:ext cx="15369035" cy="3809083"/>
          </a:xfrm>
          <a:prstGeom prst="rect">
            <a:avLst/>
          </a:prstGeom>
        </p:spPr>
        <p:txBody>
          <a:bodyPr lIns="0" tIns="0" rIns="0" bIns="0" rtlCol="0" anchor="t">
            <a:spAutoFit/>
          </a:bodyPr>
          <a:lstStyle/>
          <a:p>
            <a:pPr algn="l">
              <a:lnSpc>
                <a:spcPts val="3018"/>
              </a:lnSpc>
            </a:pPr>
            <a:r>
              <a:rPr lang="en-US" sz="2322">
                <a:solidFill>
                  <a:srgbClr val="000000"/>
                </a:solidFill>
                <a:latin typeface="Inter"/>
                <a:ea typeface="Inter"/>
                <a:cs typeface="Inter"/>
                <a:sym typeface="Inter"/>
              </a:rPr>
              <a:t>7.2 Phân loại Bug theo mức độ nghiêm trọng</a:t>
            </a:r>
          </a:p>
          <a:p>
            <a:pPr marL="501372" lvl="1" indent="-250686" algn="l">
              <a:lnSpc>
                <a:spcPts val="3018"/>
              </a:lnSpc>
              <a:buFont typeface="Arial"/>
              <a:buChar char="•"/>
            </a:pPr>
            <a:r>
              <a:rPr lang="en-US" sz="2322">
                <a:solidFill>
                  <a:srgbClr val="000000"/>
                </a:solidFill>
                <a:latin typeface="Inter"/>
                <a:ea typeface="Inter"/>
                <a:cs typeface="Inter"/>
                <a:sym typeface="Inter"/>
              </a:rPr>
              <a:t>Rất nghiêm trọng: 01 Bug. Nguyên nhân do sai lệch số tiền khuyến mãi quá lớn (chênh lệch gấp 10 lần), gây thất thoát nghiêm trọng ngân sách công ty.</a:t>
            </a:r>
          </a:p>
          <a:p>
            <a:pPr marL="501372" lvl="1" indent="-250686" algn="l">
              <a:lnSpc>
                <a:spcPts val="3018"/>
              </a:lnSpc>
              <a:buFont typeface="Arial"/>
              <a:buChar char="•"/>
            </a:pPr>
            <a:r>
              <a:rPr lang="en-US" sz="2322">
                <a:solidFill>
                  <a:srgbClr val="000000"/>
                </a:solidFill>
                <a:latin typeface="Inter"/>
                <a:ea typeface="Inter"/>
                <a:cs typeface="Inter"/>
                <a:sym typeface="Inter"/>
              </a:rPr>
              <a:t>Nghiêm trọng: 03 Bug. Nguyên nhân do tính sai phụ phí và vi phạm cam kết chính sách khuyến mãi với khách hàng.</a:t>
            </a:r>
          </a:p>
          <a:p>
            <a:pPr algn="l">
              <a:lnSpc>
                <a:spcPts val="3018"/>
              </a:lnSpc>
            </a:pPr>
            <a:r>
              <a:rPr lang="en-US" sz="2322">
                <a:solidFill>
                  <a:srgbClr val="000000"/>
                </a:solidFill>
                <a:latin typeface="Inter"/>
                <a:ea typeface="Inter"/>
                <a:cs typeface="Inter"/>
                <a:sym typeface="Inter"/>
              </a:rPr>
              <a:t>7.3 Thống kê Bug</a:t>
            </a:r>
          </a:p>
          <a:p>
            <a:pPr marL="501372" lvl="1" indent="-250686" algn="l">
              <a:lnSpc>
                <a:spcPts val="3018"/>
              </a:lnSpc>
              <a:buFont typeface="Arial"/>
              <a:buChar char="•"/>
            </a:pPr>
            <a:r>
              <a:rPr lang="en-US" sz="2322">
                <a:solidFill>
                  <a:srgbClr val="000000"/>
                </a:solidFill>
                <a:latin typeface="Inter"/>
                <a:ea typeface="Inter"/>
                <a:cs typeface="Inter"/>
                <a:sym typeface="Inter"/>
              </a:rPr>
              <a:t>Tổng số lỗi phát hiện: 04 lỗi (trên tổng số 18 kịch bản thực thi).</a:t>
            </a:r>
          </a:p>
          <a:p>
            <a:pPr marL="501372" lvl="1" indent="-250686" algn="l">
              <a:lnSpc>
                <a:spcPts val="3018"/>
              </a:lnSpc>
              <a:buFont typeface="Arial"/>
              <a:buChar char="•"/>
            </a:pPr>
            <a:r>
              <a:rPr lang="en-US" sz="2322">
                <a:solidFill>
                  <a:srgbClr val="000000"/>
                </a:solidFill>
                <a:latin typeface="Inter"/>
                <a:ea typeface="Inter"/>
                <a:cs typeface="Inter"/>
                <a:sym typeface="Inter"/>
              </a:rPr>
              <a:t>Theo Mô-đun: Module Giảm giá (2 lỗi), Module Vận chuyển (2 lỗi).</a:t>
            </a:r>
          </a:p>
          <a:p>
            <a:pPr marL="501372" lvl="1" indent="-250686" algn="l">
              <a:lnSpc>
                <a:spcPts val="3018"/>
              </a:lnSpc>
              <a:buFont typeface="Arial"/>
              <a:buChar char="•"/>
            </a:pPr>
            <a:r>
              <a:rPr lang="en-US" sz="2322">
                <a:solidFill>
                  <a:srgbClr val="000000"/>
                </a:solidFill>
                <a:latin typeface="Inter"/>
                <a:ea typeface="Inter"/>
                <a:cs typeface="Inter"/>
                <a:sym typeface="Inter"/>
              </a:rPr>
              <a:t>Tỷ lệ phân bổ nguyên nhân: 100% lỗi phát hiện đến từ việc lập trình viên Hardcode sai hằng số bên trong các nhánh rẽ nhánh logic (if/else).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89E798"/>
        </a:solidFill>
        <a:effectLst/>
      </p:bgPr>
    </p:bg>
    <p:spTree>
      <p:nvGrpSpPr>
        <p:cNvPr id="1" name=""/>
        <p:cNvGrpSpPr/>
        <p:nvPr/>
      </p:nvGrpSpPr>
      <p:grpSpPr>
        <a:xfrm>
          <a:off x="0" y="0"/>
          <a:ext cx="0" cy="0"/>
          <a:chOff x="0" y="0"/>
          <a:chExt cx="0" cy="0"/>
        </a:xfrm>
      </p:grpSpPr>
      <p:sp>
        <p:nvSpPr>
          <p:cNvPr id="2" name="Freeform 2"/>
          <p:cNvSpPr/>
          <p:nvPr/>
        </p:nvSpPr>
        <p:spPr>
          <a:xfrm>
            <a:off x="7366155" y="2583693"/>
            <a:ext cx="10921845" cy="5119615"/>
          </a:xfrm>
          <a:custGeom>
            <a:avLst/>
            <a:gdLst/>
            <a:ahLst/>
            <a:cxnLst/>
            <a:rect l="l" t="t" r="r" b="b"/>
            <a:pathLst>
              <a:path w="10921845" h="5119615">
                <a:moveTo>
                  <a:pt x="0" y="0"/>
                </a:moveTo>
                <a:lnTo>
                  <a:pt x="10921845" y="0"/>
                </a:lnTo>
                <a:lnTo>
                  <a:pt x="10921845" y="5119614"/>
                </a:lnTo>
                <a:lnTo>
                  <a:pt x="0" y="5119614"/>
                </a:lnTo>
                <a:lnTo>
                  <a:pt x="0" y="0"/>
                </a:lnTo>
                <a:close/>
              </a:path>
            </a:pathLst>
          </a:custGeom>
          <a:blipFill>
            <a:blip r:embed="rId2"/>
            <a:stretch>
              <a:fillRect/>
            </a:stretch>
          </a:blipFill>
        </p:spPr>
        <p:txBody>
          <a:bodyPr/>
          <a:lstStyle/>
          <a:p>
            <a:endParaRPr lang="en-US"/>
          </a:p>
        </p:txBody>
      </p:sp>
      <p:sp>
        <p:nvSpPr>
          <p:cNvPr id="3" name="TextBox 3"/>
          <p:cNvSpPr txBox="1"/>
          <p:nvPr/>
        </p:nvSpPr>
        <p:spPr>
          <a:xfrm>
            <a:off x="4685800" y="650902"/>
            <a:ext cx="8916399" cy="869896"/>
          </a:xfrm>
          <a:prstGeom prst="rect">
            <a:avLst/>
          </a:prstGeom>
        </p:spPr>
        <p:txBody>
          <a:bodyPr lIns="0" tIns="0" rIns="0" bIns="0" rtlCol="0" anchor="t">
            <a:spAutoFit/>
          </a:bodyPr>
          <a:lstStyle/>
          <a:p>
            <a:pPr algn="l">
              <a:lnSpc>
                <a:spcPts val="6500"/>
              </a:lnSpc>
            </a:pPr>
            <a:r>
              <a:rPr lang="en-US" sz="6500">
                <a:solidFill>
                  <a:srgbClr val="094850"/>
                </a:solidFill>
                <a:latin typeface="Inter"/>
                <a:ea typeface="Inter"/>
                <a:cs typeface="Inter"/>
                <a:sym typeface="Inter"/>
              </a:rPr>
              <a:t>XÁC MINH PHẦN MỀM</a:t>
            </a:r>
          </a:p>
        </p:txBody>
      </p:sp>
      <p:sp>
        <p:nvSpPr>
          <p:cNvPr id="4" name="TextBox 4"/>
          <p:cNvSpPr txBox="1"/>
          <p:nvPr/>
        </p:nvSpPr>
        <p:spPr>
          <a:xfrm>
            <a:off x="308068" y="1715138"/>
            <a:ext cx="6753232" cy="7601396"/>
          </a:xfrm>
          <a:prstGeom prst="rect">
            <a:avLst/>
          </a:prstGeom>
        </p:spPr>
        <p:txBody>
          <a:bodyPr lIns="0" tIns="0" rIns="0" bIns="0" rtlCol="0" anchor="t">
            <a:spAutoFit/>
          </a:bodyPr>
          <a:lstStyle/>
          <a:p>
            <a:pPr algn="l">
              <a:lnSpc>
                <a:spcPts val="2880"/>
              </a:lnSpc>
            </a:pPr>
            <a:r>
              <a:rPr lang="en-US" sz="2400">
                <a:solidFill>
                  <a:srgbClr val="094850"/>
                </a:solidFill>
                <a:latin typeface="Inter"/>
                <a:ea typeface="Inter"/>
                <a:cs typeface="Inter"/>
                <a:sym typeface="Inter"/>
              </a:rPr>
              <a:t>Báo cáo Checklist Review Code Thực hiện đánh giá 10 hạng mục, ghi nhận 04 hạng mục KHÔNG ĐẠT:</a:t>
            </a:r>
          </a:p>
          <a:p>
            <a:pPr marL="518162" lvl="1" indent="-259081" algn="l">
              <a:lnSpc>
                <a:spcPts val="2880"/>
              </a:lnSpc>
              <a:buFont typeface="Arial"/>
              <a:buChar char="•"/>
            </a:pPr>
            <a:r>
              <a:rPr lang="en-US" sz="2400">
                <a:solidFill>
                  <a:srgbClr val="094850"/>
                </a:solidFill>
                <a:latin typeface="Inter"/>
                <a:ea typeface="Inter"/>
                <a:cs typeface="Inter"/>
                <a:sym typeface="Inter"/>
              </a:rPr>
              <a:t>Lỗi Hardcode: Gán cứng trực tiếp các giá trị tiền tệ (15000, 50000) vào logic nhánh thay vì khai báo hằng số final.</a:t>
            </a:r>
          </a:p>
          <a:p>
            <a:pPr marL="518162" lvl="1" indent="-259081" algn="l">
              <a:lnSpc>
                <a:spcPts val="2880"/>
              </a:lnSpc>
              <a:buFont typeface="Arial"/>
              <a:buChar char="•"/>
            </a:pPr>
            <a:r>
              <a:rPr lang="en-US" sz="2400">
                <a:solidFill>
                  <a:srgbClr val="094850"/>
                </a:solidFill>
                <a:latin typeface="Inter"/>
                <a:ea typeface="Inter"/>
                <a:cs typeface="Inter"/>
                <a:sym typeface="Inter"/>
              </a:rPr>
              <a:t>Thiếu Document: Các hàm calculateDiscount và calculateShippingFee hoàn toàn thiếu Javadoc giải thích tham số.</a:t>
            </a:r>
          </a:p>
          <a:p>
            <a:pPr marL="518162" lvl="1" indent="-259081" algn="l">
              <a:lnSpc>
                <a:spcPts val="2880"/>
              </a:lnSpc>
              <a:buFont typeface="Arial"/>
              <a:buChar char="•"/>
            </a:pPr>
            <a:r>
              <a:rPr lang="en-US" sz="2400">
                <a:solidFill>
                  <a:srgbClr val="094850"/>
                </a:solidFill>
                <a:latin typeface="Inter"/>
                <a:ea typeface="Inter"/>
                <a:cs typeface="Inter"/>
                <a:sym typeface="Inter"/>
              </a:rPr>
              <a:t>Thiếu cơ chế Logging: Khi ném ngoại lệ IllegalArgumentException, hệ thống chưa ghi log hệ thống để theo dõi.</a:t>
            </a:r>
          </a:p>
          <a:p>
            <a:pPr algn="l">
              <a:lnSpc>
                <a:spcPts val="2880"/>
              </a:lnSpc>
            </a:pPr>
            <a:r>
              <a:rPr lang="en-US" sz="2400">
                <a:solidFill>
                  <a:srgbClr val="094850"/>
                </a:solidFill>
                <a:latin typeface="Inter"/>
                <a:ea typeface="Inter"/>
                <a:cs typeface="Inter"/>
                <a:sym typeface="Inter"/>
              </a:rPr>
              <a:t>Đánh giá &amp; Đề xuất cải tiến</a:t>
            </a:r>
          </a:p>
          <a:p>
            <a:pPr marL="518162" lvl="1" indent="-259081" algn="l">
              <a:lnSpc>
                <a:spcPts val="2880"/>
              </a:lnSpc>
              <a:buFont typeface="Arial"/>
              <a:buChar char="•"/>
            </a:pPr>
            <a:r>
              <a:rPr lang="en-US" sz="2400">
                <a:solidFill>
                  <a:srgbClr val="094850"/>
                </a:solidFill>
                <a:latin typeface="Inter"/>
                <a:ea typeface="Inter"/>
                <a:cs typeface="Inter"/>
                <a:sym typeface="Inter"/>
              </a:rPr>
              <a:t>Root Cause: Việc lạm dụng Hardcode chính là nguyên nhân gốc rễ gây ra các lỗi gõ nhầm hằng số ở khâu Validation.</a:t>
            </a:r>
          </a:p>
          <a:p>
            <a:pPr marL="518162" lvl="1" indent="-259081" algn="l">
              <a:lnSpc>
                <a:spcPts val="2880"/>
              </a:lnSpc>
              <a:buFont typeface="Arial"/>
              <a:buChar char="•"/>
            </a:pPr>
            <a:r>
              <a:rPr lang="en-US" sz="2400">
                <a:solidFill>
                  <a:srgbClr val="094850"/>
                </a:solidFill>
                <a:latin typeface="Inter"/>
                <a:ea typeface="Inter"/>
                <a:cs typeface="Inter"/>
                <a:sym typeface="Inter"/>
              </a:rPr>
              <a:t>Đề xuất: Tái cấu trúc mã nguồn, trích xuất toàn bộ các mốc tiền tệ thành hằng số public static final.</a:t>
            </a:r>
          </a:p>
          <a:p>
            <a:pPr algn="l">
              <a:lnSpc>
                <a:spcPts val="2880"/>
              </a:lnSpc>
            </a:pPr>
            <a:endParaRPr lang="en-US" sz="2400">
              <a:solidFill>
                <a:srgbClr val="094850"/>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TextBox 2"/>
          <p:cNvSpPr txBox="1"/>
          <p:nvPr/>
        </p:nvSpPr>
        <p:spPr>
          <a:xfrm>
            <a:off x="4245608" y="875475"/>
            <a:ext cx="10049006" cy="773483"/>
          </a:xfrm>
          <a:prstGeom prst="rect">
            <a:avLst/>
          </a:prstGeom>
        </p:spPr>
        <p:txBody>
          <a:bodyPr lIns="0" tIns="0" rIns="0" bIns="0" rtlCol="0" anchor="t">
            <a:spAutoFit/>
          </a:bodyPr>
          <a:lstStyle/>
          <a:p>
            <a:pPr algn="ctr">
              <a:lnSpc>
                <a:spcPts val="5700"/>
              </a:lnSpc>
            </a:pPr>
            <a:r>
              <a:rPr lang="en-US" sz="5700">
                <a:solidFill>
                  <a:srgbClr val="094850"/>
                </a:solidFill>
                <a:latin typeface="Inter"/>
                <a:ea typeface="Inter"/>
                <a:cs typeface="Inter"/>
                <a:sym typeface="Inter"/>
              </a:rPr>
              <a:t>DỰ TOÁN CHI PHÍ KIỂM THỬ</a:t>
            </a:r>
          </a:p>
        </p:txBody>
      </p:sp>
      <p:sp>
        <p:nvSpPr>
          <p:cNvPr id="3" name="TextBox 3"/>
          <p:cNvSpPr txBox="1"/>
          <p:nvPr/>
        </p:nvSpPr>
        <p:spPr>
          <a:xfrm>
            <a:off x="736511" y="2175024"/>
            <a:ext cx="16814977" cy="6842590"/>
          </a:xfrm>
          <a:prstGeom prst="rect">
            <a:avLst/>
          </a:prstGeom>
        </p:spPr>
        <p:txBody>
          <a:bodyPr lIns="0" tIns="0" rIns="0" bIns="0" rtlCol="0" anchor="t">
            <a:spAutoFit/>
          </a:bodyPr>
          <a:lstStyle/>
          <a:p>
            <a:pPr algn="just">
              <a:lnSpc>
                <a:spcPts val="3383"/>
              </a:lnSpc>
            </a:pPr>
            <a:r>
              <a:rPr lang="en-US" sz="2819">
                <a:solidFill>
                  <a:srgbClr val="094850"/>
                </a:solidFill>
                <a:latin typeface="Inter"/>
                <a:ea typeface="Inter"/>
                <a:cs typeface="Inter"/>
                <a:sym typeface="Inter"/>
              </a:rPr>
              <a:t>Cơ sở định giá &amp; Năng suất</a:t>
            </a:r>
          </a:p>
          <a:p>
            <a:pPr marL="608720" lvl="1" indent="-304360" algn="just">
              <a:lnSpc>
                <a:spcPts val="3383"/>
              </a:lnSpc>
              <a:buFont typeface="Arial"/>
              <a:buChar char="•"/>
            </a:pPr>
            <a:r>
              <a:rPr lang="en-US" sz="2819">
                <a:solidFill>
                  <a:srgbClr val="094850"/>
                </a:solidFill>
                <a:latin typeface="Inter"/>
                <a:ea typeface="Inter"/>
                <a:cs typeface="Inter"/>
                <a:sym typeface="Inter"/>
              </a:rPr>
              <a:t>Đơn giá nhân sự (QA/Tester): 500.000 VNĐ / giờ.</a:t>
            </a:r>
          </a:p>
          <a:p>
            <a:pPr marL="608720" lvl="1" indent="-304360" algn="just">
              <a:lnSpc>
                <a:spcPts val="3383"/>
              </a:lnSpc>
              <a:buFont typeface="Arial"/>
              <a:buChar char="•"/>
            </a:pPr>
            <a:r>
              <a:rPr lang="en-US" sz="2819">
                <a:solidFill>
                  <a:srgbClr val="094850"/>
                </a:solidFill>
                <a:latin typeface="Inter"/>
                <a:ea typeface="Inter"/>
                <a:cs typeface="Inter"/>
                <a:sym typeface="Inter"/>
              </a:rPr>
              <a:t>Quy đổi Agile: 1 Giờ làm việc = 1 Story Point.</a:t>
            </a:r>
          </a:p>
          <a:p>
            <a:pPr algn="just">
              <a:lnSpc>
                <a:spcPts val="3383"/>
              </a:lnSpc>
            </a:pPr>
            <a:r>
              <a:rPr lang="en-US" sz="2819">
                <a:solidFill>
                  <a:srgbClr val="094850"/>
                </a:solidFill>
                <a:latin typeface="Inter"/>
                <a:ea typeface="Inter"/>
                <a:cs typeface="Inter"/>
                <a:sym typeface="Inter"/>
              </a:rPr>
              <a:t>Dự toán xác minh tĩnh (Verification - Review Code)</a:t>
            </a:r>
          </a:p>
          <a:p>
            <a:pPr marL="608720" lvl="1" indent="-304360" algn="just">
              <a:lnSpc>
                <a:spcPts val="3383"/>
              </a:lnSpc>
              <a:buFont typeface="Arial"/>
              <a:buChar char="•"/>
            </a:pPr>
            <a:r>
              <a:rPr lang="en-US" sz="2819">
                <a:solidFill>
                  <a:srgbClr val="094850"/>
                </a:solidFill>
                <a:latin typeface="Inter"/>
                <a:ea typeface="Inter"/>
                <a:cs typeface="Inter"/>
                <a:sym typeface="Inter"/>
              </a:rPr>
              <a:t>Khối lượng: Rà soát 17 tiêu chí (Logic, Cấu trúc, An toàn, Quy trình).</a:t>
            </a:r>
          </a:p>
          <a:p>
            <a:pPr marL="608720" lvl="1" indent="-304360" algn="just">
              <a:lnSpc>
                <a:spcPts val="3383"/>
              </a:lnSpc>
              <a:buFont typeface="Arial"/>
              <a:buChar char="•"/>
            </a:pPr>
            <a:r>
              <a:rPr lang="en-US" sz="2819">
                <a:solidFill>
                  <a:srgbClr val="094850"/>
                </a:solidFill>
                <a:latin typeface="Inter"/>
                <a:ea typeface="Inter"/>
                <a:cs typeface="Inter"/>
                <a:sym typeface="Inter"/>
              </a:rPr>
              <a:t>Thời gian thực thi: 1.0 Giờ (Tương đương 1 SP).</a:t>
            </a:r>
          </a:p>
          <a:p>
            <a:pPr marL="608720" lvl="1" indent="-304360" algn="just">
              <a:lnSpc>
                <a:spcPts val="3383"/>
              </a:lnSpc>
              <a:buFont typeface="Arial"/>
              <a:buChar char="•"/>
            </a:pPr>
            <a:r>
              <a:rPr lang="en-US" sz="2819">
                <a:solidFill>
                  <a:srgbClr val="094850"/>
                </a:solidFill>
                <a:latin typeface="Inter"/>
                <a:ea typeface="Inter"/>
                <a:cs typeface="Inter"/>
                <a:sym typeface="Inter"/>
              </a:rPr>
              <a:t>Ngân sách ước tính: 1 Giờ × 500.000đ = 500.000 VNĐ.</a:t>
            </a:r>
          </a:p>
          <a:p>
            <a:pPr algn="just">
              <a:lnSpc>
                <a:spcPts val="3383"/>
              </a:lnSpc>
            </a:pPr>
            <a:r>
              <a:rPr lang="en-US" sz="2819">
                <a:solidFill>
                  <a:srgbClr val="094850"/>
                </a:solidFill>
                <a:latin typeface="Inter"/>
                <a:ea typeface="Inter"/>
                <a:cs typeface="Inter"/>
                <a:sym typeface="Inter"/>
              </a:rPr>
              <a:t>Dự toán kiểm thử động (Validation - Automation Test)</a:t>
            </a:r>
          </a:p>
          <a:p>
            <a:pPr marL="608720" lvl="1" indent="-304360" algn="just">
              <a:lnSpc>
                <a:spcPts val="3383"/>
              </a:lnSpc>
              <a:buFont typeface="Arial"/>
              <a:buChar char="•"/>
            </a:pPr>
            <a:r>
              <a:rPr lang="en-US" sz="2819">
                <a:solidFill>
                  <a:srgbClr val="094850"/>
                </a:solidFill>
                <a:latin typeface="Inter"/>
                <a:ea typeface="Inter"/>
                <a:cs typeface="Inter"/>
                <a:sym typeface="Inter"/>
              </a:rPr>
              <a:t>Khối lượng: Thiết kế, code và chạy tự động 17 kịch bản.</a:t>
            </a:r>
          </a:p>
          <a:p>
            <a:pPr marL="608720" lvl="1" indent="-304360" algn="just">
              <a:lnSpc>
                <a:spcPts val="3383"/>
              </a:lnSpc>
              <a:buFont typeface="Arial"/>
              <a:buChar char="•"/>
            </a:pPr>
            <a:r>
              <a:rPr lang="en-US" sz="2819">
                <a:solidFill>
                  <a:srgbClr val="094850"/>
                </a:solidFill>
                <a:latin typeface="Inter"/>
                <a:ea typeface="Inter"/>
                <a:cs typeface="Inter"/>
                <a:sym typeface="Inter"/>
              </a:rPr>
              <a:t>Thời gian thực thi: 6.0 Giờ (Tương đương 6 SP).</a:t>
            </a:r>
          </a:p>
          <a:p>
            <a:pPr marL="608720" lvl="1" indent="-304360" algn="just">
              <a:lnSpc>
                <a:spcPts val="3383"/>
              </a:lnSpc>
              <a:buFont typeface="Arial"/>
              <a:buChar char="•"/>
            </a:pPr>
            <a:r>
              <a:rPr lang="en-US" sz="2819">
                <a:solidFill>
                  <a:srgbClr val="094850"/>
                </a:solidFill>
                <a:latin typeface="Inter"/>
                <a:ea typeface="Inter"/>
                <a:cs typeface="Inter"/>
                <a:sym typeface="Inter"/>
              </a:rPr>
              <a:t>Ngân sách ước tính: 6 Giờ × 500.000đ = 3.000.000 VNĐ.</a:t>
            </a:r>
          </a:p>
          <a:p>
            <a:pPr algn="just">
              <a:lnSpc>
                <a:spcPts val="3383"/>
              </a:lnSpc>
            </a:pPr>
            <a:r>
              <a:rPr lang="en-US" sz="2819">
                <a:solidFill>
                  <a:srgbClr val="094850"/>
                </a:solidFill>
                <a:latin typeface="Inter"/>
                <a:ea typeface="Inter"/>
                <a:cs typeface="Inter"/>
                <a:sym typeface="Inter"/>
              </a:rPr>
              <a:t>Tổng kết hiệu quả đầu tư (ROI)</a:t>
            </a:r>
          </a:p>
          <a:p>
            <a:pPr marL="608720" lvl="1" indent="-304360" algn="just">
              <a:lnSpc>
                <a:spcPts val="3383"/>
              </a:lnSpc>
              <a:buFont typeface="Arial"/>
              <a:buChar char="•"/>
            </a:pPr>
            <a:r>
              <a:rPr lang="en-US" sz="2819">
                <a:solidFill>
                  <a:srgbClr val="094850"/>
                </a:solidFill>
                <a:latin typeface="Inter"/>
                <a:ea typeface="Inter"/>
                <a:cs typeface="Inter"/>
                <a:sym typeface="Inter"/>
              </a:rPr>
              <a:t>Tổng chi phí toàn bộ dự án QA: 3.500.000 VNĐ (Tổng thời gian: 7 Giờ làm việc).</a:t>
            </a:r>
          </a:p>
          <a:p>
            <a:pPr marL="608720" lvl="1" indent="-304360" algn="just">
              <a:lnSpc>
                <a:spcPts val="3383"/>
              </a:lnSpc>
              <a:buFont typeface="Arial"/>
              <a:buChar char="•"/>
            </a:pPr>
            <a:r>
              <a:rPr lang="en-US" sz="2819">
                <a:solidFill>
                  <a:srgbClr val="094850"/>
                </a:solidFill>
                <a:latin typeface="Inter"/>
                <a:ea typeface="Inter"/>
                <a:cs typeface="Inter"/>
                <a:sym typeface="Inter"/>
              </a:rPr>
              <a:t>Giá trị mang lại: Chỉ với chi phí bằng một ngày công của Tester, dự án đã phát hiện và chặn đứng 4 lỗi nghiêm trọng, bảo vệ thành công hàng trăm triệu đồng khỏi nguy cơ thất thoát do lỗi phần mềm.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89E798"/>
        </a:solidFill>
        <a:effectLst/>
      </p:bgPr>
    </p:bg>
    <p:spTree>
      <p:nvGrpSpPr>
        <p:cNvPr id="1" name=""/>
        <p:cNvGrpSpPr/>
        <p:nvPr/>
      </p:nvGrpSpPr>
      <p:grpSpPr>
        <a:xfrm>
          <a:off x="0" y="0"/>
          <a:ext cx="0" cy="0"/>
          <a:chOff x="0" y="0"/>
          <a:chExt cx="0" cy="0"/>
        </a:xfrm>
      </p:grpSpPr>
      <p:sp>
        <p:nvSpPr>
          <p:cNvPr id="2" name="TextBox 2"/>
          <p:cNvSpPr txBox="1"/>
          <p:nvPr/>
        </p:nvSpPr>
        <p:spPr>
          <a:xfrm>
            <a:off x="709488" y="5133975"/>
            <a:ext cx="16869025" cy="4399822"/>
          </a:xfrm>
          <a:prstGeom prst="rect">
            <a:avLst/>
          </a:prstGeom>
        </p:spPr>
        <p:txBody>
          <a:bodyPr lIns="0" tIns="0" rIns="0" bIns="0" rtlCol="0" anchor="t">
            <a:spAutoFit/>
          </a:bodyPr>
          <a:lstStyle/>
          <a:p>
            <a:pPr algn="just">
              <a:lnSpc>
                <a:spcPts val="2423"/>
              </a:lnSpc>
            </a:pPr>
            <a:r>
              <a:rPr lang="en-US" sz="2019" b="1">
                <a:solidFill>
                  <a:srgbClr val="094850"/>
                </a:solidFill>
                <a:latin typeface="Inter Bold"/>
                <a:ea typeface="Inter Bold"/>
                <a:cs typeface="Inter Bold"/>
                <a:sym typeface="Inter Bold"/>
              </a:rPr>
              <a:t>Đánh giá chất lượng Module OrderService</a:t>
            </a:r>
          </a:p>
          <a:p>
            <a:pPr marL="457594" lvl="1" indent="-228797" algn="just">
              <a:lnSpc>
                <a:spcPts val="2543"/>
              </a:lnSpc>
              <a:buFont typeface="Arial"/>
              <a:buChar char="•"/>
            </a:pPr>
            <a:r>
              <a:rPr lang="en-US" sz="2119">
                <a:solidFill>
                  <a:srgbClr val="094850"/>
                </a:solidFill>
                <a:latin typeface="Inter"/>
                <a:ea typeface="Inter"/>
                <a:cs typeface="Inter"/>
                <a:sym typeface="Inter"/>
              </a:rPr>
              <a:t>Trạng thái: Không đạt chuẩn để phát hành.</a:t>
            </a:r>
          </a:p>
          <a:p>
            <a:pPr marL="457594" lvl="1" indent="-228797" algn="just">
              <a:lnSpc>
                <a:spcPts val="2543"/>
              </a:lnSpc>
              <a:buFont typeface="Arial"/>
              <a:buChar char="•"/>
            </a:pPr>
            <a:r>
              <a:rPr lang="en-US" sz="2119">
                <a:solidFill>
                  <a:srgbClr val="094850"/>
                </a:solidFill>
                <a:latin typeface="Inter"/>
                <a:ea typeface="Inter"/>
                <a:cs typeface="Inter"/>
                <a:sym typeface="Inter"/>
              </a:rPr>
              <a:t>Đánh giá: Thuật toán xử lý nhanh O(1). Việc lạm dụng gán cứng các con số vào code khiến hệ thống cực kỳ dễ phát sinh lỗi do Gõ nhầm số.</a:t>
            </a:r>
          </a:p>
          <a:p>
            <a:pPr algn="just">
              <a:lnSpc>
                <a:spcPts val="2543"/>
              </a:lnSpc>
            </a:pPr>
            <a:r>
              <a:rPr lang="en-US" sz="2119" b="1">
                <a:solidFill>
                  <a:srgbClr val="094850"/>
                </a:solidFill>
                <a:latin typeface="Inter Bold"/>
                <a:ea typeface="Inter Bold"/>
                <a:cs typeface="Inter Bold"/>
                <a:sym typeface="Inter Bold"/>
              </a:rPr>
              <a:t>Những gì nhóm làm được / Chưa làm được</a:t>
            </a:r>
          </a:p>
          <a:p>
            <a:pPr marL="457594" lvl="1" indent="-228797" algn="just">
              <a:lnSpc>
                <a:spcPts val="2543"/>
              </a:lnSpc>
              <a:buFont typeface="Arial"/>
              <a:buChar char="•"/>
            </a:pPr>
            <a:r>
              <a:rPr lang="en-US" sz="2119">
                <a:solidFill>
                  <a:srgbClr val="094850"/>
                </a:solidFill>
                <a:latin typeface="Inter"/>
                <a:ea typeface="Inter"/>
                <a:cs typeface="Inter"/>
                <a:sym typeface="Inter"/>
              </a:rPr>
              <a:t>Làm được: Chứng minh được mối liên hệ mật thiết giữa Verification và Testing; Tự động hóa 100% kịch bản; Dự toán chi phí chuẩn Agile.</a:t>
            </a:r>
          </a:p>
          <a:p>
            <a:pPr marL="457594" lvl="1" indent="-228797" algn="just">
              <a:lnSpc>
                <a:spcPts val="2543"/>
              </a:lnSpc>
              <a:buFont typeface="Arial"/>
              <a:buChar char="•"/>
            </a:pPr>
            <a:r>
              <a:rPr lang="en-US" sz="2119">
                <a:solidFill>
                  <a:srgbClr val="094850"/>
                </a:solidFill>
                <a:latin typeface="Inter"/>
                <a:ea typeface="Inter"/>
                <a:cs typeface="Inter"/>
                <a:sym typeface="Inter"/>
              </a:rPr>
              <a:t>Chưa làm được: Mới giới hạn ở Kiểm thử hộp trắng (Unit Test), chưa đánh giá được hiệu năng khi hệ thống chịu tải cao.</a:t>
            </a:r>
          </a:p>
          <a:p>
            <a:pPr algn="just">
              <a:lnSpc>
                <a:spcPts val="2543"/>
              </a:lnSpc>
            </a:pPr>
            <a:r>
              <a:rPr lang="en-US" sz="2119" b="1">
                <a:solidFill>
                  <a:srgbClr val="094850"/>
                </a:solidFill>
                <a:latin typeface="Inter Bold"/>
                <a:ea typeface="Inter Bold"/>
                <a:cs typeface="Inter Bold"/>
                <a:sym typeface="Inter Bold"/>
              </a:rPr>
              <a:t>Bài học kinh nghiệm</a:t>
            </a:r>
          </a:p>
          <a:p>
            <a:pPr marL="457594" lvl="1" indent="-228797" algn="just">
              <a:lnSpc>
                <a:spcPts val="2543"/>
              </a:lnSpc>
              <a:buFont typeface="Arial"/>
              <a:buChar char="•"/>
            </a:pPr>
            <a:r>
              <a:rPr lang="en-US" sz="2119">
                <a:solidFill>
                  <a:srgbClr val="094850"/>
                </a:solidFill>
                <a:latin typeface="Inter"/>
                <a:ea typeface="Inter"/>
                <a:cs typeface="Inter"/>
                <a:sym typeface="Inter"/>
              </a:rPr>
              <a:t>"Phòng bệnh rẻ hơn chữa bệnh": Áp dụng Verification sớm giúp tìm lỗi với chi phí chỉ bằng 1/6 so với Testing.</a:t>
            </a:r>
          </a:p>
          <a:p>
            <a:pPr marL="457594" lvl="1" indent="-228797" algn="just">
              <a:lnSpc>
                <a:spcPts val="2543"/>
              </a:lnSpc>
              <a:buFont typeface="Arial"/>
              <a:buChar char="•"/>
            </a:pPr>
            <a:r>
              <a:rPr lang="en-US" sz="2119">
                <a:solidFill>
                  <a:srgbClr val="094850"/>
                </a:solidFill>
                <a:latin typeface="Inter"/>
                <a:ea typeface="Inter"/>
                <a:cs typeface="Inter"/>
                <a:sym typeface="Inter"/>
              </a:rPr>
              <a:t>Sự bổ trợ hoàn hảo: Verification rà soát quy chuẩn, Testing chứng minh hậu quả. Không thể bỏ qua 1 trong 2.</a:t>
            </a:r>
          </a:p>
          <a:p>
            <a:pPr algn="just">
              <a:lnSpc>
                <a:spcPts val="2543"/>
              </a:lnSpc>
            </a:pPr>
            <a:r>
              <a:rPr lang="en-US" sz="2119" b="1">
                <a:solidFill>
                  <a:srgbClr val="094850"/>
                </a:solidFill>
                <a:latin typeface="Inter Bold"/>
                <a:ea typeface="Inter Bold"/>
                <a:cs typeface="Inter Bold"/>
                <a:sym typeface="Inter Bold"/>
              </a:rPr>
              <a:t>Đề xuất cải tiến</a:t>
            </a:r>
          </a:p>
          <a:p>
            <a:pPr marL="457594" lvl="1" indent="-228797" algn="just">
              <a:lnSpc>
                <a:spcPts val="2543"/>
              </a:lnSpc>
              <a:buFont typeface="Arial"/>
              <a:buChar char="•"/>
            </a:pPr>
            <a:r>
              <a:rPr lang="en-US" sz="2119">
                <a:solidFill>
                  <a:srgbClr val="094850"/>
                </a:solidFill>
                <a:latin typeface="Inter"/>
                <a:ea typeface="Inter"/>
                <a:cs typeface="Inter"/>
                <a:sym typeface="Inter"/>
              </a:rPr>
              <a:t>Ứng dụng: Refactor toàn bộ Class, trích xuất các mốc tiền tệ thành hằng số.</a:t>
            </a:r>
          </a:p>
          <a:p>
            <a:pPr marL="457594" lvl="1" indent="-228797" algn="just">
              <a:lnSpc>
                <a:spcPts val="2543"/>
              </a:lnSpc>
              <a:buFont typeface="Arial"/>
              <a:buChar char="•"/>
            </a:pPr>
            <a:r>
              <a:rPr lang="en-US" sz="2119">
                <a:solidFill>
                  <a:srgbClr val="094850"/>
                </a:solidFill>
                <a:latin typeface="Inter"/>
                <a:ea typeface="Inter"/>
                <a:cs typeface="Inter"/>
                <a:sym typeface="Inter"/>
              </a:rPr>
              <a:t>Quy trình: Bắt buộc phải Review Code (Verification) đạt Pass 100% Checklist rồi mới được đẩy sang chạy Automation Testing.</a:t>
            </a:r>
          </a:p>
        </p:txBody>
      </p:sp>
      <p:graphicFrame>
        <p:nvGraphicFramePr>
          <p:cNvPr id="3" name="Object 3"/>
          <p:cNvGraphicFramePr/>
          <p:nvPr/>
        </p:nvGraphicFramePr>
        <p:xfrm>
          <a:off x="3155554" y="1463341"/>
          <a:ext cx="9429750" cy="3771900"/>
        </p:xfrm>
        <a:graphic>
          <a:graphicData uri="http://schemas.openxmlformats.org/presentationml/2006/ole">
            <mc:AlternateContent xmlns:mc="http://schemas.openxmlformats.org/markup-compatibility/2006">
              <mc:Choice xmlns:v="urn:schemas-microsoft-com:vml" Requires="v">
                <p:oleObj name="Worksheet" r:id="rId2" imgW="11315700" imgH="5651500" progId="Excel.Sheet.12">
                  <p:embed/>
                </p:oleObj>
              </mc:Choice>
              <mc:Fallback>
                <p:oleObj name="Worksheet" r:id="rId2" imgW="11315700" imgH="5651500" progId="Excel.Sheet.12">
                  <p:embed/>
                  <p:pic>
                    <p:nvPicPr>
                      <p:cNvPr id="0" name=""/>
                      <p:cNvPicPr/>
                      <p:nvPr/>
                    </p:nvPicPr>
                    <p:blipFill>
                      <a:blip r:embed="rId3"/>
                      <a:stretch>
                        <a:fillRect/>
                      </a:stretch>
                    </p:blipFill>
                    <p:spPr>
                      <a:xfrm>
                        <a:off x="3155554" y="1463341"/>
                        <a:ext cx="9429750" cy="3771900"/>
                      </a:xfrm>
                      <a:prstGeom prst="rect">
                        <a:avLst/>
                      </a:prstGeom>
                    </p:spPr>
                  </p:pic>
                </p:oleObj>
              </mc:Fallback>
            </mc:AlternateContent>
          </a:graphicData>
        </a:graphic>
      </p:graphicFrame>
      <p:sp>
        <p:nvSpPr>
          <p:cNvPr id="4" name="TextBox 4"/>
          <p:cNvSpPr txBox="1"/>
          <p:nvPr/>
        </p:nvSpPr>
        <p:spPr>
          <a:xfrm>
            <a:off x="4904885" y="469710"/>
            <a:ext cx="8478229" cy="799022"/>
          </a:xfrm>
          <a:prstGeom prst="rect">
            <a:avLst/>
          </a:prstGeom>
        </p:spPr>
        <p:txBody>
          <a:bodyPr lIns="0" tIns="0" rIns="0" bIns="0" rtlCol="0" anchor="t">
            <a:spAutoFit/>
          </a:bodyPr>
          <a:lstStyle/>
          <a:p>
            <a:pPr algn="l">
              <a:lnSpc>
                <a:spcPts val="5906"/>
              </a:lnSpc>
            </a:pPr>
            <a:r>
              <a:rPr lang="en-US" sz="5906">
                <a:solidFill>
                  <a:srgbClr val="094850"/>
                </a:solidFill>
                <a:latin typeface="Inter"/>
                <a:ea typeface="Inter"/>
                <a:cs typeface="Inter"/>
                <a:sym typeface="Inter"/>
              </a:rPr>
              <a:t>TỔNG KẾT &amp; ĐÁNH GIÁ</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1994</Words>
  <Application>Microsoft Office PowerPoint</Application>
  <PresentationFormat>Custom</PresentationFormat>
  <Paragraphs>110</Paragraphs>
  <Slides>10</Slides>
  <Notes>0</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10</vt:i4>
      </vt:variant>
    </vt:vector>
  </HeadingPairs>
  <TitlesOfParts>
    <vt:vector size="16" baseType="lpstr">
      <vt:lpstr>Arial</vt:lpstr>
      <vt:lpstr>Inter</vt:lpstr>
      <vt:lpstr>Calibri</vt:lpstr>
      <vt:lpstr>Inter Bold</vt: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Bản sao của GK môn testing</dc:title>
  <cp:lastModifiedBy>Kiet Võ</cp:lastModifiedBy>
  <cp:revision>2</cp:revision>
  <dcterms:created xsi:type="dcterms:W3CDTF">2006-08-16T00:00:00Z</dcterms:created>
  <dcterms:modified xsi:type="dcterms:W3CDTF">2026-03-18T15:20:26Z</dcterms:modified>
  <dc:identifier>DAHESfeJoI4</dc:identifier>
</cp:coreProperties>
</file>